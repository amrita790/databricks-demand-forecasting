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DG Jory" charset="1" panose="02000000000000000000"/>
      <p:regular r:id="rId19"/>
    </p:embeddedFont>
    <p:embeddedFont>
      <p:font typeface="League Spartan"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07933" y="59261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680067" y="-25110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9894255" y="287833"/>
            <a:ext cx="7689458" cy="733425"/>
          </a:xfrm>
          <a:prstGeom prst="rect">
            <a:avLst/>
          </a:prstGeom>
        </p:spPr>
        <p:txBody>
          <a:bodyPr anchor="t" rtlCol="false" tIns="0" lIns="0" bIns="0" rIns="0">
            <a:spAutoFit/>
          </a:bodyPr>
          <a:lstStyle/>
          <a:p>
            <a:pPr algn="ctr">
              <a:lnSpc>
                <a:spcPts val="5759"/>
              </a:lnSpc>
            </a:pPr>
            <a:r>
              <a:rPr lang="en-US" sz="4799">
                <a:solidFill>
                  <a:srgbClr val="FF3131"/>
                </a:solidFill>
                <a:latin typeface="DG Jory"/>
                <a:ea typeface="DG Jory"/>
                <a:cs typeface="DG Jory"/>
                <a:sym typeface="DG Jory"/>
              </a:rPr>
              <a:t>Databricks Capstone Project </a:t>
            </a:r>
          </a:p>
        </p:txBody>
      </p:sp>
      <p:sp>
        <p:nvSpPr>
          <p:cNvPr name="TextBox 7" id="7"/>
          <p:cNvSpPr txBox="true"/>
          <p:nvPr/>
        </p:nvSpPr>
        <p:spPr>
          <a:xfrm rot="0">
            <a:off x="704287" y="2518122"/>
            <a:ext cx="16879426" cy="2223732"/>
          </a:xfrm>
          <a:prstGeom prst="rect">
            <a:avLst/>
          </a:prstGeom>
        </p:spPr>
        <p:txBody>
          <a:bodyPr anchor="t" rtlCol="false" tIns="0" lIns="0" bIns="0" rIns="0">
            <a:spAutoFit/>
          </a:bodyPr>
          <a:lstStyle/>
          <a:p>
            <a:pPr algn="ctr">
              <a:lnSpc>
                <a:spcPts val="8788"/>
              </a:lnSpc>
            </a:pPr>
            <a:r>
              <a:rPr lang="en-US" sz="7323">
                <a:solidFill>
                  <a:srgbClr val="000000"/>
                </a:solidFill>
                <a:latin typeface="League Spartan"/>
                <a:ea typeface="League Spartan"/>
                <a:cs typeface="League Spartan"/>
                <a:sym typeface="League Spartan"/>
              </a:rPr>
              <a:t>PREDICTING DEMAND TO PREVENT STOCKOUTS</a:t>
            </a:r>
          </a:p>
        </p:txBody>
      </p:sp>
      <p:sp>
        <p:nvSpPr>
          <p:cNvPr name="TextBox 8" id="8"/>
          <p:cNvSpPr txBox="true"/>
          <p:nvPr/>
        </p:nvSpPr>
        <p:spPr>
          <a:xfrm rot="0">
            <a:off x="12798247" y="9369731"/>
            <a:ext cx="4461053"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DG Jory"/>
                <a:ea typeface="DG Jory"/>
                <a:cs typeface="DG Jory"/>
                <a:sym typeface="DG Jory"/>
              </a:rPr>
              <a:t>By Amrita Chakraborty</a:t>
            </a:r>
          </a:p>
        </p:txBody>
      </p:sp>
      <p:sp>
        <p:nvSpPr>
          <p:cNvPr name="TextBox 9" id="9"/>
          <p:cNvSpPr txBox="true"/>
          <p:nvPr/>
        </p:nvSpPr>
        <p:spPr>
          <a:xfrm rot="0">
            <a:off x="6926185" y="6060702"/>
            <a:ext cx="4171434" cy="477647"/>
          </a:xfrm>
          <a:prstGeom prst="rect">
            <a:avLst/>
          </a:prstGeom>
        </p:spPr>
        <p:txBody>
          <a:bodyPr anchor="t" rtlCol="false" tIns="0" lIns="0" bIns="0" rIns="0">
            <a:spAutoFit/>
          </a:bodyPr>
          <a:lstStyle/>
          <a:p>
            <a:pPr algn="ctr">
              <a:lnSpc>
                <a:spcPts val="3834"/>
              </a:lnSpc>
              <a:spcBef>
                <a:spcPct val="0"/>
              </a:spcBef>
            </a:pPr>
            <a:r>
              <a:rPr lang="en-US" sz="2738">
                <a:solidFill>
                  <a:srgbClr val="000000"/>
                </a:solidFill>
                <a:latin typeface="DG Jory"/>
                <a:ea typeface="DG Jory"/>
                <a:cs typeface="DG Jory"/>
                <a:sym typeface="DG Jory"/>
              </a:rPr>
              <a:t>Domain: E-Commerce &amp; Retail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5010517" y="1028700"/>
            <a:ext cx="8831926" cy="2380491"/>
            <a:chOff x="0" y="0"/>
            <a:chExt cx="4048103" cy="1091095"/>
          </a:xfrm>
        </p:grpSpPr>
        <p:sp>
          <p:nvSpPr>
            <p:cNvPr name="Freeform 7" id="7"/>
            <p:cNvSpPr/>
            <p:nvPr/>
          </p:nvSpPr>
          <p:spPr>
            <a:xfrm flipH="false" flipV="false" rot="0">
              <a:off x="0" y="0"/>
              <a:ext cx="4048103" cy="1091095"/>
            </a:xfrm>
            <a:custGeom>
              <a:avLst/>
              <a:gdLst/>
              <a:ahLst/>
              <a:cxnLst/>
              <a:rect r="r" b="b" t="t" l="l"/>
              <a:pathLst>
                <a:path h="1091095" w="4048103">
                  <a:moveTo>
                    <a:pt x="4048103" y="0"/>
                  </a:moveTo>
                  <a:lnTo>
                    <a:pt x="0" y="0"/>
                  </a:lnTo>
                  <a:lnTo>
                    <a:pt x="0" y="903135"/>
                  </a:lnTo>
                  <a:lnTo>
                    <a:pt x="157480" y="903135"/>
                  </a:lnTo>
                  <a:lnTo>
                    <a:pt x="157480" y="1091095"/>
                  </a:lnTo>
                  <a:lnTo>
                    <a:pt x="463550" y="903135"/>
                  </a:lnTo>
                  <a:lnTo>
                    <a:pt x="4048103" y="903135"/>
                  </a:lnTo>
                  <a:lnTo>
                    <a:pt x="4048103" y="0"/>
                  </a:lnTo>
                  <a:close/>
                </a:path>
              </a:pathLst>
            </a:custGeom>
            <a:solidFill>
              <a:srgbClr val="000000">
                <a:alpha val="0"/>
              </a:srgbClr>
            </a:solidFill>
            <a:ln w="66675" cap="sq">
              <a:solidFill>
                <a:srgbClr val="56C3D0"/>
              </a:solidFill>
              <a:prstDash val="solid"/>
              <a:miter/>
            </a:ln>
          </p:spPr>
        </p:sp>
        <p:sp>
          <p:nvSpPr>
            <p:cNvPr name="TextBox 8" id="8"/>
            <p:cNvSpPr txBox="true"/>
            <p:nvPr/>
          </p:nvSpPr>
          <p:spPr>
            <a:xfrm>
              <a:off x="0" y="-47625"/>
              <a:ext cx="4048103" cy="94822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419627" y="3971211"/>
            <a:ext cx="11052754" cy="5170238"/>
          </a:xfrm>
          <a:prstGeom prst="rect">
            <a:avLst/>
          </a:prstGeom>
        </p:spPr>
        <p:txBody>
          <a:bodyPr anchor="t" rtlCol="false" tIns="0" lIns="0" bIns="0" rIns="0">
            <a:spAutoFit/>
          </a:bodyPr>
          <a:lstStyle/>
          <a:p>
            <a:pPr algn="l">
              <a:lnSpc>
                <a:spcPts val="4733"/>
              </a:lnSpc>
            </a:pPr>
            <a:r>
              <a:rPr lang="en-US" sz="3381">
                <a:solidFill>
                  <a:srgbClr val="000000"/>
                </a:solidFill>
                <a:latin typeface="DG Jory"/>
                <a:ea typeface="DG Jory"/>
                <a:cs typeface="DG Jory"/>
                <a:sym typeface="DG Jory"/>
              </a:rPr>
              <a:t>•DEMAND  FLUCTUATES  BY  REGION, PRODUCT, AND TIME</a:t>
            </a:r>
          </a:p>
          <a:p>
            <a:pPr algn="l">
              <a:lnSpc>
                <a:spcPts val="4733"/>
              </a:lnSpc>
            </a:pPr>
          </a:p>
          <a:p>
            <a:pPr algn="l">
              <a:lnSpc>
                <a:spcPts val="4733"/>
              </a:lnSpc>
            </a:pPr>
            <a:r>
              <a:rPr lang="en-US" sz="3381">
                <a:solidFill>
                  <a:srgbClr val="000000"/>
                </a:solidFill>
                <a:latin typeface="DG Jory"/>
                <a:ea typeface="DG Jory"/>
                <a:cs typeface="DG Jory"/>
                <a:sym typeface="DG Jory"/>
              </a:rPr>
              <a:t>•UNEXPECTED  STOCKOUTS  LEAD  TO  REVENUE  AND CUSTOMER  LOSS</a:t>
            </a:r>
          </a:p>
          <a:p>
            <a:pPr algn="l">
              <a:lnSpc>
                <a:spcPts val="4733"/>
              </a:lnSpc>
            </a:pPr>
          </a:p>
          <a:p>
            <a:pPr algn="l">
              <a:lnSpc>
                <a:spcPts val="4733"/>
              </a:lnSpc>
            </a:pPr>
            <a:r>
              <a:rPr lang="en-US" sz="3381">
                <a:solidFill>
                  <a:srgbClr val="00BF63"/>
                </a:solidFill>
                <a:latin typeface="DG Jory"/>
                <a:ea typeface="DG Jory"/>
                <a:cs typeface="DG Jory"/>
                <a:sym typeface="DG Jory"/>
              </a:rPr>
              <a:t>GOAL</a:t>
            </a:r>
            <a:r>
              <a:rPr lang="en-US" sz="3381">
                <a:solidFill>
                  <a:srgbClr val="000000"/>
                </a:solidFill>
                <a:latin typeface="DG Jory"/>
                <a:ea typeface="DG Jory"/>
                <a:cs typeface="DG Jory"/>
                <a:sym typeface="DG Jory"/>
              </a:rPr>
              <a:t>: PREDICT   DEMAND   BEFORE   IT  OCCURS   USING DATA &amp; ML</a:t>
            </a:r>
          </a:p>
          <a:p>
            <a:pPr algn="l">
              <a:lnSpc>
                <a:spcPts val="3868"/>
              </a:lnSpc>
            </a:pPr>
          </a:p>
          <a:p>
            <a:pPr algn="l">
              <a:lnSpc>
                <a:spcPts val="3868"/>
              </a:lnSpc>
            </a:pPr>
          </a:p>
        </p:txBody>
      </p:sp>
      <p:sp>
        <p:nvSpPr>
          <p:cNvPr name="TextBox 10" id="10"/>
          <p:cNvSpPr txBox="true"/>
          <p:nvPr/>
        </p:nvSpPr>
        <p:spPr>
          <a:xfrm rot="0">
            <a:off x="4905096" y="1539583"/>
            <a:ext cx="8626896" cy="149722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PROBLEM DEFINITION &amp; BUSINESS CONTEXT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022962" y="4014742"/>
            <a:ext cx="12953382" cy="3094403"/>
          </a:xfrm>
          <a:prstGeom prst="rect">
            <a:avLst/>
          </a:prstGeom>
        </p:spPr>
        <p:txBody>
          <a:bodyPr anchor="t" rtlCol="false" tIns="0" lIns="0" bIns="0" rIns="0">
            <a:spAutoFit/>
          </a:bodyPr>
          <a:lstStyle/>
          <a:p>
            <a:pPr algn="l" marL="951209" indent="-475605" lvl="1">
              <a:lnSpc>
                <a:spcPts val="6168"/>
              </a:lnSpc>
              <a:buFont typeface="Arial"/>
              <a:buChar char="•"/>
            </a:pPr>
            <a:r>
              <a:rPr lang="en-US" sz="4405">
                <a:solidFill>
                  <a:srgbClr val="000000"/>
                </a:solidFill>
                <a:latin typeface="DG Jory"/>
                <a:ea typeface="DG Jory"/>
                <a:cs typeface="DG Jory"/>
                <a:sym typeface="DG Jory"/>
              </a:rPr>
              <a:t>Demand patterns are non-linear and seasonal</a:t>
            </a:r>
          </a:p>
          <a:p>
            <a:pPr algn="l" marL="951209" indent="-475605" lvl="1">
              <a:lnSpc>
                <a:spcPts val="6168"/>
              </a:lnSpc>
              <a:buFont typeface="Arial"/>
              <a:buChar char="•"/>
            </a:pPr>
            <a:r>
              <a:rPr lang="en-US" sz="4405">
                <a:solidFill>
                  <a:srgbClr val="000000"/>
                </a:solidFill>
                <a:latin typeface="DG Jory"/>
                <a:ea typeface="DG Jory"/>
                <a:cs typeface="DG Jory"/>
                <a:sym typeface="DG Jory"/>
              </a:rPr>
              <a:t>Manual rules fail at scale</a:t>
            </a:r>
          </a:p>
          <a:p>
            <a:pPr algn="l" marL="951209" indent="-475605" lvl="1">
              <a:lnSpc>
                <a:spcPts val="6168"/>
              </a:lnSpc>
              <a:buFont typeface="Arial"/>
              <a:buChar char="•"/>
            </a:pPr>
            <a:r>
              <a:rPr lang="en-US" sz="4405">
                <a:solidFill>
                  <a:srgbClr val="000000"/>
                </a:solidFill>
                <a:latin typeface="DG Jory"/>
                <a:ea typeface="DG Jory"/>
                <a:cs typeface="DG Jory"/>
                <a:sym typeface="DG Jory"/>
              </a:rPr>
              <a:t>ML can learn hidden patterns from historical data</a:t>
            </a:r>
          </a:p>
          <a:p>
            <a:pPr algn="l">
              <a:lnSpc>
                <a:spcPts val="6168"/>
              </a:lnSpc>
            </a:pPr>
          </a:p>
        </p:txBody>
      </p:sp>
      <p:grpSp>
        <p:nvGrpSpPr>
          <p:cNvPr name="Group 7" id="7"/>
          <p:cNvGrpSpPr/>
          <p:nvPr/>
        </p:nvGrpSpPr>
        <p:grpSpPr>
          <a:xfrm rot="0">
            <a:off x="4689714" y="731401"/>
            <a:ext cx="9057660" cy="2144171"/>
            <a:chOff x="0" y="0"/>
            <a:chExt cx="4151568" cy="982778"/>
          </a:xfrm>
        </p:grpSpPr>
        <p:sp>
          <p:nvSpPr>
            <p:cNvPr name="Freeform 8" id="8"/>
            <p:cNvSpPr/>
            <p:nvPr/>
          </p:nvSpPr>
          <p:spPr>
            <a:xfrm flipH="false" flipV="false" rot="0">
              <a:off x="0" y="0"/>
              <a:ext cx="4151568" cy="982778"/>
            </a:xfrm>
            <a:custGeom>
              <a:avLst/>
              <a:gdLst/>
              <a:ahLst/>
              <a:cxnLst/>
              <a:rect r="r" b="b" t="t" l="l"/>
              <a:pathLst>
                <a:path h="982778" w="4151568">
                  <a:moveTo>
                    <a:pt x="4151568" y="0"/>
                  </a:moveTo>
                  <a:lnTo>
                    <a:pt x="0" y="0"/>
                  </a:lnTo>
                  <a:lnTo>
                    <a:pt x="0" y="794818"/>
                  </a:lnTo>
                  <a:lnTo>
                    <a:pt x="157480" y="794818"/>
                  </a:lnTo>
                  <a:lnTo>
                    <a:pt x="157480" y="982778"/>
                  </a:lnTo>
                  <a:lnTo>
                    <a:pt x="463550" y="794818"/>
                  </a:lnTo>
                  <a:lnTo>
                    <a:pt x="4151568" y="794818"/>
                  </a:lnTo>
                  <a:lnTo>
                    <a:pt x="4151568" y="0"/>
                  </a:lnTo>
                  <a:close/>
                </a:path>
              </a:pathLst>
            </a:custGeom>
            <a:solidFill>
              <a:srgbClr val="9BDAE9"/>
            </a:solidFill>
            <a:ln cap="sq">
              <a:noFill/>
              <a:prstDash val="solid"/>
              <a:miter/>
            </a:ln>
          </p:spPr>
        </p:sp>
        <p:sp>
          <p:nvSpPr>
            <p:cNvPr name="TextBox 9" id="9"/>
            <p:cNvSpPr txBox="true"/>
            <p:nvPr/>
          </p:nvSpPr>
          <p:spPr>
            <a:xfrm>
              <a:off x="0" y="-47625"/>
              <a:ext cx="4151568" cy="83990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689714" y="731401"/>
            <a:ext cx="9057660" cy="2144171"/>
            <a:chOff x="0" y="0"/>
            <a:chExt cx="4151568" cy="982778"/>
          </a:xfrm>
        </p:grpSpPr>
        <p:sp>
          <p:nvSpPr>
            <p:cNvPr name="Freeform 11" id="11"/>
            <p:cNvSpPr/>
            <p:nvPr/>
          </p:nvSpPr>
          <p:spPr>
            <a:xfrm flipH="false" flipV="false" rot="0">
              <a:off x="0" y="0"/>
              <a:ext cx="4151568" cy="982778"/>
            </a:xfrm>
            <a:custGeom>
              <a:avLst/>
              <a:gdLst/>
              <a:ahLst/>
              <a:cxnLst/>
              <a:rect r="r" b="b" t="t" l="l"/>
              <a:pathLst>
                <a:path h="982778" w="4151568">
                  <a:moveTo>
                    <a:pt x="4151568" y="0"/>
                  </a:moveTo>
                  <a:lnTo>
                    <a:pt x="0" y="0"/>
                  </a:lnTo>
                  <a:lnTo>
                    <a:pt x="0" y="794818"/>
                  </a:lnTo>
                  <a:lnTo>
                    <a:pt x="157480" y="794818"/>
                  </a:lnTo>
                  <a:lnTo>
                    <a:pt x="157480" y="982778"/>
                  </a:lnTo>
                  <a:lnTo>
                    <a:pt x="463550" y="794818"/>
                  </a:lnTo>
                  <a:lnTo>
                    <a:pt x="4151568" y="794818"/>
                  </a:lnTo>
                  <a:lnTo>
                    <a:pt x="4151568"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4151568" cy="83990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5348118" y="924888"/>
            <a:ext cx="7591764" cy="149722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WHY AI / ML INSTEAD OF RULES?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1028700" y="1028700"/>
            <a:ext cx="8613953" cy="1773322"/>
            <a:chOff x="0" y="0"/>
            <a:chExt cx="3948195" cy="812800"/>
          </a:xfrm>
        </p:grpSpPr>
        <p:sp>
          <p:nvSpPr>
            <p:cNvPr name="Freeform 6" id="6"/>
            <p:cNvSpPr/>
            <p:nvPr/>
          </p:nvSpPr>
          <p:spPr>
            <a:xfrm flipH="false" flipV="false" rot="0">
              <a:off x="0" y="0"/>
              <a:ext cx="3948195" cy="812800"/>
            </a:xfrm>
            <a:custGeom>
              <a:avLst/>
              <a:gdLst/>
              <a:ahLst/>
              <a:cxnLst/>
              <a:rect r="r" b="b" t="t" l="l"/>
              <a:pathLst>
                <a:path h="812800" w="3948195">
                  <a:moveTo>
                    <a:pt x="3948195" y="0"/>
                  </a:moveTo>
                  <a:lnTo>
                    <a:pt x="0" y="0"/>
                  </a:lnTo>
                  <a:lnTo>
                    <a:pt x="0" y="624840"/>
                  </a:lnTo>
                  <a:lnTo>
                    <a:pt x="157480" y="624840"/>
                  </a:lnTo>
                  <a:lnTo>
                    <a:pt x="157480" y="812800"/>
                  </a:lnTo>
                  <a:lnTo>
                    <a:pt x="463550" y="624840"/>
                  </a:lnTo>
                  <a:lnTo>
                    <a:pt x="3948195" y="624840"/>
                  </a:lnTo>
                  <a:lnTo>
                    <a:pt x="3948195" y="0"/>
                  </a:lnTo>
                  <a:close/>
                </a:path>
              </a:pathLst>
            </a:custGeom>
            <a:solidFill>
              <a:srgbClr val="9BDAE9"/>
            </a:solidFill>
            <a:ln cap="sq">
              <a:noFill/>
              <a:prstDash val="solid"/>
              <a:miter/>
            </a:ln>
          </p:spPr>
        </p:sp>
        <p:sp>
          <p:nvSpPr>
            <p:cNvPr name="TextBox 7" id="7"/>
            <p:cNvSpPr txBox="true"/>
            <p:nvPr/>
          </p:nvSpPr>
          <p:spPr>
            <a:xfrm>
              <a:off x="0" y="-47625"/>
              <a:ext cx="3948195"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1028700"/>
            <a:ext cx="8613953" cy="1790714"/>
            <a:chOff x="0" y="0"/>
            <a:chExt cx="3948195" cy="820771"/>
          </a:xfrm>
        </p:grpSpPr>
        <p:sp>
          <p:nvSpPr>
            <p:cNvPr name="Freeform 9" id="9"/>
            <p:cNvSpPr/>
            <p:nvPr/>
          </p:nvSpPr>
          <p:spPr>
            <a:xfrm flipH="false" flipV="false" rot="0">
              <a:off x="0" y="0"/>
              <a:ext cx="3948195" cy="820771"/>
            </a:xfrm>
            <a:custGeom>
              <a:avLst/>
              <a:gdLst/>
              <a:ahLst/>
              <a:cxnLst/>
              <a:rect r="r" b="b" t="t" l="l"/>
              <a:pathLst>
                <a:path h="820771" w="3948195">
                  <a:moveTo>
                    <a:pt x="3948195" y="0"/>
                  </a:moveTo>
                  <a:lnTo>
                    <a:pt x="0" y="0"/>
                  </a:lnTo>
                  <a:lnTo>
                    <a:pt x="0" y="632811"/>
                  </a:lnTo>
                  <a:lnTo>
                    <a:pt x="157480" y="632811"/>
                  </a:lnTo>
                  <a:lnTo>
                    <a:pt x="157480" y="820771"/>
                  </a:lnTo>
                  <a:lnTo>
                    <a:pt x="463550" y="632811"/>
                  </a:lnTo>
                  <a:lnTo>
                    <a:pt x="3948195" y="632811"/>
                  </a:lnTo>
                  <a:lnTo>
                    <a:pt x="3948195" y="0"/>
                  </a:lnTo>
                  <a:close/>
                </a:path>
              </a:pathLst>
            </a:custGeom>
            <a:solidFill>
              <a:srgbClr val="000000">
                <a:alpha val="0"/>
              </a:srgbClr>
            </a:solidFill>
            <a:ln w="66675" cap="sq">
              <a:solidFill>
                <a:srgbClr val="56C3D0"/>
              </a:solidFill>
              <a:prstDash val="solid"/>
              <a:miter/>
            </a:ln>
          </p:spPr>
        </p:sp>
        <p:sp>
          <p:nvSpPr>
            <p:cNvPr name="TextBox 10" id="10"/>
            <p:cNvSpPr txBox="true"/>
            <p:nvPr/>
          </p:nvSpPr>
          <p:spPr>
            <a:xfrm>
              <a:off x="0" y="-47625"/>
              <a:ext cx="3948195" cy="67789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09939"/>
            <a:ext cx="4882567" cy="851368"/>
            <a:chOff x="0" y="0"/>
            <a:chExt cx="1285944" cy="224229"/>
          </a:xfrm>
        </p:grpSpPr>
        <p:sp>
          <p:nvSpPr>
            <p:cNvPr name="Freeform 12" id="12"/>
            <p:cNvSpPr/>
            <p:nvPr/>
          </p:nvSpPr>
          <p:spPr>
            <a:xfrm flipH="false" flipV="false" rot="0">
              <a:off x="0" y="0"/>
              <a:ext cx="1285944" cy="224229"/>
            </a:xfrm>
            <a:custGeom>
              <a:avLst/>
              <a:gdLst/>
              <a:ahLst/>
              <a:cxnLst/>
              <a:rect r="r" b="b" t="t" l="l"/>
              <a:pathLst>
                <a:path h="224229" w="1285944">
                  <a:moveTo>
                    <a:pt x="0" y="0"/>
                  </a:moveTo>
                  <a:lnTo>
                    <a:pt x="1285944" y="0"/>
                  </a:lnTo>
                  <a:lnTo>
                    <a:pt x="1285944" y="224229"/>
                  </a:lnTo>
                  <a:lnTo>
                    <a:pt x="0" y="224229"/>
                  </a:lnTo>
                  <a:close/>
                </a:path>
              </a:pathLst>
            </a:custGeom>
            <a:solidFill>
              <a:srgbClr val="9BDAE9">
                <a:alpha val="49804"/>
              </a:srgbClr>
            </a:solidFill>
          </p:spPr>
        </p:sp>
        <p:sp>
          <p:nvSpPr>
            <p:cNvPr name="TextBox 13" id="13"/>
            <p:cNvSpPr txBox="true"/>
            <p:nvPr/>
          </p:nvSpPr>
          <p:spPr>
            <a:xfrm>
              <a:off x="0" y="-47625"/>
              <a:ext cx="1285944" cy="271854"/>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257516" y="6442822"/>
            <a:ext cx="2380506" cy="851368"/>
            <a:chOff x="0" y="0"/>
            <a:chExt cx="626964" cy="224229"/>
          </a:xfrm>
        </p:grpSpPr>
        <p:sp>
          <p:nvSpPr>
            <p:cNvPr name="Freeform 15" id="15"/>
            <p:cNvSpPr/>
            <p:nvPr/>
          </p:nvSpPr>
          <p:spPr>
            <a:xfrm flipH="false" flipV="false" rot="0">
              <a:off x="0" y="0"/>
              <a:ext cx="626964" cy="224229"/>
            </a:xfrm>
            <a:custGeom>
              <a:avLst/>
              <a:gdLst/>
              <a:ahLst/>
              <a:cxnLst/>
              <a:rect r="r" b="b" t="t" l="l"/>
              <a:pathLst>
                <a:path h="224229" w="626964">
                  <a:moveTo>
                    <a:pt x="0" y="0"/>
                  </a:moveTo>
                  <a:lnTo>
                    <a:pt x="626964" y="0"/>
                  </a:lnTo>
                  <a:lnTo>
                    <a:pt x="626964" y="224229"/>
                  </a:lnTo>
                  <a:lnTo>
                    <a:pt x="0" y="224229"/>
                  </a:lnTo>
                  <a:close/>
                </a:path>
              </a:pathLst>
            </a:custGeom>
            <a:solidFill>
              <a:srgbClr val="9BDAE9">
                <a:alpha val="49804"/>
              </a:srgbClr>
            </a:solidFill>
          </p:spPr>
        </p:sp>
        <p:sp>
          <p:nvSpPr>
            <p:cNvPr name="TextBox 16" id="16"/>
            <p:cNvSpPr txBox="true"/>
            <p:nvPr/>
          </p:nvSpPr>
          <p:spPr>
            <a:xfrm>
              <a:off x="0" y="-47625"/>
              <a:ext cx="626964" cy="271854"/>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99792" y="4189478"/>
            <a:ext cx="15511787" cy="1843769"/>
          </a:xfrm>
          <a:prstGeom prst="rect">
            <a:avLst/>
          </a:prstGeom>
        </p:spPr>
        <p:txBody>
          <a:bodyPr anchor="t" rtlCol="false" tIns="0" lIns="0" bIns="0" rIns="0">
            <a:spAutoFit/>
          </a:bodyPr>
          <a:lstStyle/>
          <a:p>
            <a:pPr algn="l">
              <a:lnSpc>
                <a:spcPts val="2933"/>
              </a:lnSpc>
            </a:pPr>
            <a:r>
              <a:rPr lang="en-US" sz="2095">
                <a:solidFill>
                  <a:srgbClr val="000000"/>
                </a:solidFill>
                <a:latin typeface="DG Jory"/>
                <a:ea typeface="DG Jory"/>
                <a:cs typeface="DG Jory"/>
                <a:sym typeface="DG Jory"/>
              </a:rPr>
              <a:t>This dataset is designed t</a:t>
            </a:r>
            <a:r>
              <a:rPr lang="en-US" sz="2095">
                <a:solidFill>
                  <a:srgbClr val="000000"/>
                </a:solidFill>
                <a:latin typeface="DG Jory"/>
                <a:ea typeface="DG Jory"/>
                <a:cs typeface="DG Jory"/>
                <a:sym typeface="DG Jory"/>
              </a:rPr>
              <a:t>o represent typical transactional data from an e-commerce business environment. It reflects how online retail platforms record daily orders, track product performance, and monitor financial outcomes across different regions and time periods. Such datasets are commonly used in business analytics to understand customer purchasing behavior, evaluate sales strategies, and support data-driven decision making. The dataset is suitable for beginners as well as intermediate users who want to practice data cleaning, visualization, exploratory data analysis, and basic predictive modeling in a realistic retail setting</a:t>
            </a:r>
          </a:p>
        </p:txBody>
      </p:sp>
      <p:sp>
        <p:nvSpPr>
          <p:cNvPr name="TextBox 18" id="18"/>
          <p:cNvSpPr txBox="true"/>
          <p:nvPr/>
        </p:nvSpPr>
        <p:spPr>
          <a:xfrm rot="0">
            <a:off x="1099792" y="7392821"/>
            <a:ext cx="14563610" cy="2211737"/>
          </a:xfrm>
          <a:prstGeom prst="rect">
            <a:avLst/>
          </a:prstGeom>
        </p:spPr>
        <p:txBody>
          <a:bodyPr anchor="t" rtlCol="false" tIns="0" lIns="0" bIns="0" rIns="0">
            <a:spAutoFit/>
          </a:bodyPr>
          <a:lstStyle/>
          <a:p>
            <a:pPr algn="l">
              <a:lnSpc>
                <a:spcPts val="2930"/>
              </a:lnSpc>
            </a:pPr>
            <a:r>
              <a:rPr lang="en-US" sz="2093">
                <a:solidFill>
                  <a:srgbClr val="000000"/>
                </a:solidFill>
                <a:latin typeface="DG Jory"/>
                <a:ea typeface="DG Jory"/>
                <a:cs typeface="DG Jory"/>
                <a:sym typeface="DG Jory"/>
              </a:rPr>
              <a:t>Th</a:t>
            </a:r>
            <a:r>
              <a:rPr lang="en-US" sz="2093">
                <a:solidFill>
                  <a:srgbClr val="000000"/>
                </a:solidFill>
                <a:latin typeface="DG Jory"/>
                <a:ea typeface="DG Jory"/>
                <a:cs typeface="DG Jory"/>
                <a:sym typeface="DG Jory"/>
              </a:rPr>
              <a:t>e dataset contains 3,500 records of individual e-commerce orders with seven main attributes: Order Date, Product Name, Category, Region, Quantity, Sales, and Profit. Each row corresponds to a single transaction, providing both descriptive information (product, category, and region) and numerical business metrics (quantity sold, total sales revenue, and profit). The order dates range from 2022 to 2024, making the dataset useful for time-based analysis such as monthly or yearly sales trends. This structured tabular data can be used to analyze product performance, compare regional sales, study the relationship between sales and profit, and build simple forecasting or classification models.</a:t>
            </a:r>
          </a:p>
        </p:txBody>
      </p:sp>
      <p:sp>
        <p:nvSpPr>
          <p:cNvPr name="TextBox 19" id="19"/>
          <p:cNvSpPr txBox="true"/>
          <p:nvPr/>
        </p:nvSpPr>
        <p:spPr>
          <a:xfrm rot="0">
            <a:off x="1099792" y="3376008"/>
            <a:ext cx="4740383" cy="1099820"/>
          </a:xfrm>
          <a:prstGeom prst="rect">
            <a:avLst/>
          </a:prstGeom>
        </p:spPr>
        <p:txBody>
          <a:bodyPr anchor="t" rtlCol="false" tIns="0" lIns="0" bIns="0" rIns="0">
            <a:spAutoFit/>
          </a:bodyPr>
          <a:lstStyle/>
          <a:p>
            <a:pPr algn="l">
              <a:lnSpc>
                <a:spcPts val="4479"/>
              </a:lnSpc>
            </a:pPr>
            <a:r>
              <a:rPr lang="en-US" sz="3199" b="true">
                <a:solidFill>
                  <a:srgbClr val="000000"/>
                </a:solidFill>
                <a:latin typeface="League Spartan"/>
                <a:ea typeface="League Spartan"/>
                <a:cs typeface="League Spartan"/>
                <a:sym typeface="League Spartan"/>
              </a:rPr>
              <a:t>CONTEXT</a:t>
            </a:r>
          </a:p>
          <a:p>
            <a:pPr algn="l">
              <a:lnSpc>
                <a:spcPts val="4479"/>
              </a:lnSpc>
            </a:pPr>
          </a:p>
        </p:txBody>
      </p:sp>
      <p:sp>
        <p:nvSpPr>
          <p:cNvPr name="TextBox 20" id="20"/>
          <p:cNvSpPr txBox="true"/>
          <p:nvPr/>
        </p:nvSpPr>
        <p:spPr>
          <a:xfrm rot="0">
            <a:off x="1257516" y="6604747"/>
            <a:ext cx="1954256" cy="976785"/>
          </a:xfrm>
          <a:prstGeom prst="rect">
            <a:avLst/>
          </a:prstGeom>
        </p:spPr>
        <p:txBody>
          <a:bodyPr anchor="t" rtlCol="false" tIns="0" lIns="0" bIns="0" rIns="0">
            <a:spAutoFit/>
          </a:bodyPr>
          <a:lstStyle/>
          <a:p>
            <a:pPr algn="l">
              <a:lnSpc>
                <a:spcPts val="3911"/>
              </a:lnSpc>
            </a:pPr>
            <a:r>
              <a:rPr lang="en-US" sz="2793">
                <a:solidFill>
                  <a:srgbClr val="000000"/>
                </a:solidFill>
                <a:latin typeface="League Spartan"/>
                <a:ea typeface="League Spartan"/>
                <a:cs typeface="League Spartan"/>
                <a:sym typeface="League Spartan"/>
              </a:rPr>
              <a:t>CONTENT</a:t>
            </a:r>
          </a:p>
          <a:p>
            <a:pPr algn="l">
              <a:lnSpc>
                <a:spcPts val="3911"/>
              </a:lnSpc>
            </a:pPr>
          </a:p>
        </p:txBody>
      </p:sp>
      <p:sp>
        <p:nvSpPr>
          <p:cNvPr name="TextBox 21" id="21"/>
          <p:cNvSpPr txBox="true"/>
          <p:nvPr/>
        </p:nvSpPr>
        <p:spPr>
          <a:xfrm rot="0">
            <a:off x="1412706" y="1410758"/>
            <a:ext cx="7462773"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ABOUT THE DATASET</a:t>
            </a:r>
          </a:p>
        </p:txBody>
      </p:sp>
      <p:sp>
        <p:nvSpPr>
          <p:cNvPr name="TextBox 22" id="22"/>
          <p:cNvSpPr txBox="true"/>
          <p:nvPr/>
        </p:nvSpPr>
        <p:spPr>
          <a:xfrm rot="0">
            <a:off x="3639350" y="9556934"/>
            <a:ext cx="12711261" cy="357569"/>
          </a:xfrm>
          <a:prstGeom prst="rect">
            <a:avLst/>
          </a:prstGeom>
        </p:spPr>
        <p:txBody>
          <a:bodyPr anchor="t" rtlCol="false" tIns="0" lIns="0" bIns="0" rIns="0">
            <a:spAutoFit/>
          </a:bodyPr>
          <a:lstStyle/>
          <a:p>
            <a:pPr algn="ctr">
              <a:lnSpc>
                <a:spcPts val="2866"/>
              </a:lnSpc>
              <a:spcBef>
                <a:spcPct val="0"/>
              </a:spcBef>
            </a:pPr>
            <a:r>
              <a:rPr lang="en-US" sz="2047">
                <a:solidFill>
                  <a:srgbClr val="00BF63"/>
                </a:solidFill>
                <a:latin typeface="DG Jory"/>
                <a:ea typeface="DG Jory"/>
                <a:cs typeface="DG Jory"/>
                <a:sym typeface="DG Jory"/>
              </a:rPr>
              <a:t>SOURCE URL</a:t>
            </a:r>
            <a:r>
              <a:rPr lang="en-US" sz="2047">
                <a:solidFill>
                  <a:srgbClr val="EC4F9A"/>
                </a:solidFill>
                <a:latin typeface="DG Jory"/>
                <a:ea typeface="DG Jory"/>
                <a:cs typeface="DG Jory"/>
                <a:sym typeface="DG Jory"/>
              </a:rPr>
              <a:t>:https://www.kaggle.com/datasets/zahranusratt/e-commerce-orders-and-sales-performance-dataset</a:t>
            </a:r>
            <a:r>
              <a:rPr lang="en-US" sz="2047">
                <a:solidFill>
                  <a:srgbClr val="EC4F9A"/>
                </a:solidFill>
                <a:latin typeface="DG Jory"/>
                <a:ea typeface="DG Jory"/>
                <a:cs typeface="DG Jory"/>
                <a:sym typeface="DG Jory"/>
              </a:rPr>
              <a:t>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834580" y="3617553"/>
            <a:ext cx="11525182" cy="5263546"/>
            <a:chOff x="0" y="0"/>
            <a:chExt cx="3035439" cy="1386284"/>
          </a:xfrm>
        </p:grpSpPr>
        <p:sp>
          <p:nvSpPr>
            <p:cNvPr name="Freeform 4" id="4"/>
            <p:cNvSpPr/>
            <p:nvPr/>
          </p:nvSpPr>
          <p:spPr>
            <a:xfrm flipH="false" flipV="false" rot="0">
              <a:off x="0" y="0"/>
              <a:ext cx="3035439" cy="1386284"/>
            </a:xfrm>
            <a:custGeom>
              <a:avLst/>
              <a:gdLst/>
              <a:ahLst/>
              <a:cxnLst/>
              <a:rect r="r" b="b" t="t" l="l"/>
              <a:pathLst>
                <a:path h="1386284" w="3035439">
                  <a:moveTo>
                    <a:pt x="0" y="0"/>
                  </a:moveTo>
                  <a:lnTo>
                    <a:pt x="3035439" y="0"/>
                  </a:lnTo>
                  <a:lnTo>
                    <a:pt x="3035439"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name="TextBox 5" id="5"/>
            <p:cNvSpPr txBox="true"/>
            <p:nvPr/>
          </p:nvSpPr>
          <p:spPr>
            <a:xfrm>
              <a:off x="0" y="-47625"/>
              <a:ext cx="3035439" cy="143390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248792" y="495439"/>
            <a:ext cx="15790416" cy="9050975"/>
          </a:xfrm>
          <a:custGeom>
            <a:avLst/>
            <a:gdLst/>
            <a:ahLst/>
            <a:cxnLst/>
            <a:rect r="r" b="b" t="t" l="l"/>
            <a:pathLst>
              <a:path h="9050975" w="15790416">
                <a:moveTo>
                  <a:pt x="0" y="0"/>
                </a:moveTo>
                <a:lnTo>
                  <a:pt x="15790416" y="0"/>
                </a:lnTo>
                <a:lnTo>
                  <a:pt x="15790416" y="9050975"/>
                </a:lnTo>
                <a:lnTo>
                  <a:pt x="0" y="9050975"/>
                </a:lnTo>
                <a:lnTo>
                  <a:pt x="0" y="0"/>
                </a:lnTo>
                <a:close/>
              </a:path>
            </a:pathLst>
          </a:custGeom>
          <a:blipFill>
            <a:blip r:embed="rId4"/>
            <a:stretch>
              <a:fillRect l="0" t="-18086" r="-32874" b="-12308"/>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916801" y="475488"/>
            <a:ext cx="14557942" cy="1855038"/>
            <a:chOff x="0" y="0"/>
            <a:chExt cx="6672615" cy="850254"/>
          </a:xfrm>
        </p:grpSpPr>
        <p:sp>
          <p:nvSpPr>
            <p:cNvPr name="Freeform 6" id="6"/>
            <p:cNvSpPr/>
            <p:nvPr/>
          </p:nvSpPr>
          <p:spPr>
            <a:xfrm flipH="false" flipV="false" rot="0">
              <a:off x="0" y="0"/>
              <a:ext cx="6672615" cy="850254"/>
            </a:xfrm>
            <a:custGeom>
              <a:avLst/>
              <a:gdLst/>
              <a:ahLst/>
              <a:cxnLst/>
              <a:rect r="r" b="b" t="t" l="l"/>
              <a:pathLst>
                <a:path h="850254" w="6672615">
                  <a:moveTo>
                    <a:pt x="6672615" y="0"/>
                  </a:moveTo>
                  <a:lnTo>
                    <a:pt x="0" y="0"/>
                  </a:lnTo>
                  <a:lnTo>
                    <a:pt x="0" y="662294"/>
                  </a:lnTo>
                  <a:lnTo>
                    <a:pt x="157480" y="662294"/>
                  </a:lnTo>
                  <a:lnTo>
                    <a:pt x="157480" y="850254"/>
                  </a:lnTo>
                  <a:lnTo>
                    <a:pt x="463550" y="662294"/>
                  </a:lnTo>
                  <a:lnTo>
                    <a:pt x="6672615" y="662294"/>
                  </a:lnTo>
                  <a:lnTo>
                    <a:pt x="6672615" y="0"/>
                  </a:lnTo>
                  <a:close/>
                </a:path>
              </a:pathLst>
            </a:custGeom>
            <a:solidFill>
              <a:srgbClr val="9BDAE9"/>
            </a:solidFill>
            <a:ln cap="sq">
              <a:noFill/>
              <a:prstDash val="solid"/>
              <a:miter/>
            </a:ln>
          </p:spPr>
        </p:sp>
        <p:sp>
          <p:nvSpPr>
            <p:cNvPr name="TextBox 7" id="7"/>
            <p:cNvSpPr txBox="true"/>
            <p:nvPr/>
          </p:nvSpPr>
          <p:spPr>
            <a:xfrm>
              <a:off x="0" y="-47625"/>
              <a:ext cx="6672615" cy="70737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14185" y="676831"/>
            <a:ext cx="14378167" cy="1855038"/>
            <a:chOff x="0" y="0"/>
            <a:chExt cx="6590216" cy="850254"/>
          </a:xfrm>
        </p:grpSpPr>
        <p:sp>
          <p:nvSpPr>
            <p:cNvPr name="Freeform 9" id="9"/>
            <p:cNvSpPr/>
            <p:nvPr/>
          </p:nvSpPr>
          <p:spPr>
            <a:xfrm flipH="false" flipV="false" rot="0">
              <a:off x="0" y="0"/>
              <a:ext cx="6590216" cy="850254"/>
            </a:xfrm>
            <a:custGeom>
              <a:avLst/>
              <a:gdLst/>
              <a:ahLst/>
              <a:cxnLst/>
              <a:rect r="r" b="b" t="t" l="l"/>
              <a:pathLst>
                <a:path h="850254" w="6590216">
                  <a:moveTo>
                    <a:pt x="6590216" y="0"/>
                  </a:moveTo>
                  <a:lnTo>
                    <a:pt x="0" y="0"/>
                  </a:lnTo>
                  <a:lnTo>
                    <a:pt x="0" y="662294"/>
                  </a:lnTo>
                  <a:lnTo>
                    <a:pt x="157480" y="662294"/>
                  </a:lnTo>
                  <a:lnTo>
                    <a:pt x="157480" y="850254"/>
                  </a:lnTo>
                  <a:lnTo>
                    <a:pt x="463550" y="662294"/>
                  </a:lnTo>
                  <a:lnTo>
                    <a:pt x="6590216" y="662294"/>
                  </a:lnTo>
                  <a:lnTo>
                    <a:pt x="6590216" y="0"/>
                  </a:lnTo>
                  <a:close/>
                </a:path>
              </a:pathLst>
            </a:custGeom>
            <a:solidFill>
              <a:srgbClr val="000000">
                <a:alpha val="0"/>
              </a:srgbClr>
            </a:solidFill>
            <a:ln w="66675" cap="sq">
              <a:solidFill>
                <a:srgbClr val="56C3D0"/>
              </a:solidFill>
              <a:prstDash val="solid"/>
              <a:miter/>
            </a:ln>
          </p:spPr>
        </p:sp>
        <p:sp>
          <p:nvSpPr>
            <p:cNvPr name="TextBox 10" id="10"/>
            <p:cNvSpPr txBox="true"/>
            <p:nvPr/>
          </p:nvSpPr>
          <p:spPr>
            <a:xfrm>
              <a:off x="0" y="-47625"/>
              <a:ext cx="6590216" cy="707379"/>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028700" y="7851623"/>
            <a:ext cx="15936421" cy="2200811"/>
          </a:xfrm>
          <a:custGeom>
            <a:avLst/>
            <a:gdLst/>
            <a:ahLst/>
            <a:cxnLst/>
            <a:rect r="r" b="b" t="t" l="l"/>
            <a:pathLst>
              <a:path h="2200811" w="15936421">
                <a:moveTo>
                  <a:pt x="0" y="0"/>
                </a:moveTo>
                <a:lnTo>
                  <a:pt x="15936421" y="0"/>
                </a:lnTo>
                <a:lnTo>
                  <a:pt x="15936421" y="2200811"/>
                </a:lnTo>
                <a:lnTo>
                  <a:pt x="0" y="2200811"/>
                </a:lnTo>
                <a:lnTo>
                  <a:pt x="0" y="0"/>
                </a:lnTo>
                <a:close/>
              </a:path>
            </a:pathLst>
          </a:custGeom>
          <a:blipFill>
            <a:blip r:embed="rId4"/>
            <a:stretch>
              <a:fillRect l="-10503" t="-49124" r="-8682" b="0"/>
            </a:stretch>
          </a:blipFill>
        </p:spPr>
      </p:sp>
      <p:sp>
        <p:nvSpPr>
          <p:cNvPr name="TextBox 12" id="12"/>
          <p:cNvSpPr txBox="true"/>
          <p:nvPr/>
        </p:nvSpPr>
        <p:spPr>
          <a:xfrm rot="0">
            <a:off x="1431797" y="2465194"/>
            <a:ext cx="12614588" cy="4959237"/>
          </a:xfrm>
          <a:prstGeom prst="rect">
            <a:avLst/>
          </a:prstGeom>
        </p:spPr>
        <p:txBody>
          <a:bodyPr anchor="t" rtlCol="false" tIns="0" lIns="0" bIns="0" rIns="0">
            <a:spAutoFit/>
          </a:bodyPr>
          <a:lstStyle/>
          <a:p>
            <a:pPr algn="l">
              <a:lnSpc>
                <a:spcPts val="4381"/>
              </a:lnSpc>
            </a:pPr>
            <a:r>
              <a:rPr lang="en-US" sz="3129">
                <a:solidFill>
                  <a:srgbClr val="EC4F9A"/>
                </a:solidFill>
                <a:latin typeface="DG Jory"/>
                <a:ea typeface="DG Jory"/>
                <a:cs typeface="DG Jory"/>
                <a:sym typeface="DG Jory"/>
              </a:rPr>
              <a:t>Medallion Architecture</a:t>
            </a:r>
          </a:p>
          <a:p>
            <a:pPr algn="l" marL="675648" indent="-337824" lvl="1">
              <a:lnSpc>
                <a:spcPts val="4381"/>
              </a:lnSpc>
              <a:buFont typeface="Arial"/>
              <a:buChar char="•"/>
            </a:pPr>
            <a:r>
              <a:rPr lang="en-US" sz="3129">
                <a:solidFill>
                  <a:srgbClr val="000000"/>
                </a:solidFill>
                <a:latin typeface="DG Jory"/>
                <a:ea typeface="DG Jory"/>
                <a:cs typeface="DG Jory"/>
                <a:sym typeface="DG Jory"/>
              </a:rPr>
              <a:t>Bronze layer for raw data ingestion</a:t>
            </a:r>
          </a:p>
          <a:p>
            <a:pPr algn="l" marL="675648" indent="-337824" lvl="1">
              <a:lnSpc>
                <a:spcPts val="4381"/>
              </a:lnSpc>
              <a:buFont typeface="Arial"/>
              <a:buChar char="•"/>
            </a:pPr>
            <a:r>
              <a:rPr lang="en-US" sz="3129">
                <a:solidFill>
                  <a:srgbClr val="000000"/>
                </a:solidFill>
                <a:latin typeface="DG Jory"/>
                <a:ea typeface="DG Jory"/>
                <a:cs typeface="DG Jory"/>
                <a:sym typeface="DG Jory"/>
              </a:rPr>
              <a:t>Silver layer for cleaned and validated data</a:t>
            </a:r>
          </a:p>
          <a:p>
            <a:pPr algn="l" marL="675648" indent="-337824" lvl="1">
              <a:lnSpc>
                <a:spcPts val="4381"/>
              </a:lnSpc>
              <a:buFont typeface="Arial"/>
              <a:buChar char="•"/>
            </a:pPr>
            <a:r>
              <a:rPr lang="en-US" sz="3129">
                <a:solidFill>
                  <a:srgbClr val="000000"/>
                </a:solidFill>
                <a:latin typeface="DG Jory"/>
                <a:ea typeface="DG Jory"/>
                <a:cs typeface="DG Jory"/>
                <a:sym typeface="DG Jory"/>
              </a:rPr>
              <a:t>Gold layer for aggregated and ML-ready datasets</a:t>
            </a:r>
          </a:p>
          <a:p>
            <a:pPr algn="l">
              <a:lnSpc>
                <a:spcPts val="4381"/>
              </a:lnSpc>
            </a:pPr>
            <a:r>
              <a:rPr lang="en-US" sz="3129">
                <a:solidFill>
                  <a:srgbClr val="00BF63"/>
                </a:solidFill>
                <a:latin typeface="DG Jory"/>
                <a:ea typeface="DG Jory"/>
                <a:cs typeface="DG Jory"/>
                <a:sym typeface="DG Jory"/>
              </a:rPr>
              <a:t>Databricks Jobs Pipeline</a:t>
            </a:r>
          </a:p>
          <a:p>
            <a:pPr algn="l" marL="675648" indent="-337824" lvl="1">
              <a:lnSpc>
                <a:spcPts val="4381"/>
              </a:lnSpc>
              <a:buFont typeface="Arial"/>
              <a:buChar char="•"/>
            </a:pPr>
            <a:r>
              <a:rPr lang="en-US" sz="3129">
                <a:solidFill>
                  <a:srgbClr val="000000"/>
                </a:solidFill>
                <a:latin typeface="DG Jory"/>
                <a:ea typeface="DG Jory"/>
                <a:cs typeface="DG Jory"/>
                <a:sym typeface="DG Jory"/>
              </a:rPr>
              <a:t>Each layer executed as a separate task</a:t>
            </a:r>
          </a:p>
          <a:p>
            <a:pPr algn="l" marL="675648" indent="-337824" lvl="1">
              <a:lnSpc>
                <a:spcPts val="4381"/>
              </a:lnSpc>
              <a:buFont typeface="Arial"/>
              <a:buChar char="•"/>
            </a:pPr>
            <a:r>
              <a:rPr lang="en-US" sz="3129">
                <a:solidFill>
                  <a:srgbClr val="000000"/>
                </a:solidFill>
                <a:latin typeface="DG Jory"/>
                <a:ea typeface="DG Jory"/>
                <a:cs typeface="DG Jory"/>
                <a:sym typeface="DG Jory"/>
              </a:rPr>
              <a:t>Tasks orchestrated using Databricks Jobs</a:t>
            </a:r>
          </a:p>
          <a:p>
            <a:pPr algn="l" marL="675648" indent="-337824" lvl="1">
              <a:lnSpc>
                <a:spcPts val="4381"/>
              </a:lnSpc>
              <a:buFont typeface="Arial"/>
              <a:buChar char="•"/>
            </a:pPr>
            <a:r>
              <a:rPr lang="en-US" sz="3129">
                <a:solidFill>
                  <a:srgbClr val="000000"/>
                </a:solidFill>
                <a:latin typeface="DG Jory"/>
                <a:ea typeface="DG Jory"/>
                <a:cs typeface="DG Jory"/>
                <a:sym typeface="DG Jory"/>
              </a:rPr>
              <a:t>Automated and repeatable data processing flow</a:t>
            </a:r>
          </a:p>
          <a:p>
            <a:pPr algn="l">
              <a:lnSpc>
                <a:spcPts val="4381"/>
              </a:lnSpc>
            </a:pPr>
          </a:p>
        </p:txBody>
      </p:sp>
      <p:sp>
        <p:nvSpPr>
          <p:cNvPr name="TextBox 13" id="13"/>
          <p:cNvSpPr txBox="true"/>
          <p:nvPr/>
        </p:nvSpPr>
        <p:spPr>
          <a:xfrm rot="0">
            <a:off x="1028700" y="867461"/>
            <a:ext cx="14059070" cy="693338"/>
          </a:xfrm>
          <a:prstGeom prst="rect">
            <a:avLst/>
          </a:prstGeom>
        </p:spPr>
        <p:txBody>
          <a:bodyPr anchor="t" rtlCol="false" tIns="0" lIns="0" bIns="0" rIns="0">
            <a:spAutoFit/>
          </a:bodyPr>
          <a:lstStyle/>
          <a:p>
            <a:pPr algn="ctr">
              <a:lnSpc>
                <a:spcPts val="5480"/>
              </a:lnSpc>
            </a:pPr>
            <a:r>
              <a:rPr lang="en-US" sz="4566">
                <a:solidFill>
                  <a:srgbClr val="000000"/>
                </a:solidFill>
                <a:latin typeface="League Spartan"/>
                <a:ea typeface="League Spartan"/>
                <a:cs typeface="League Spartan"/>
                <a:sym typeface="League Spartan"/>
              </a:rPr>
              <a:t>END-TO-END DATA ARCHITECTURE &amp; PIPELINE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716412"/>
            <a:ext cx="5303996" cy="5263546"/>
            <a:chOff x="0" y="0"/>
            <a:chExt cx="1396937" cy="1386284"/>
          </a:xfrm>
        </p:grpSpPr>
        <p:sp>
          <p:nvSpPr>
            <p:cNvPr name="Freeform 3" id="3"/>
            <p:cNvSpPr/>
            <p:nvPr/>
          </p:nvSpPr>
          <p:spPr>
            <a:xfrm flipH="false" flipV="false" rot="0">
              <a:off x="0" y="0"/>
              <a:ext cx="1396937" cy="1386284"/>
            </a:xfrm>
            <a:custGeom>
              <a:avLst/>
              <a:gdLst/>
              <a:ahLst/>
              <a:cxnLst/>
              <a:rect r="r" b="b" t="t" l="l"/>
              <a:pathLst>
                <a:path h="1386284" w="1396937">
                  <a:moveTo>
                    <a:pt x="0" y="0"/>
                  </a:moveTo>
                  <a:lnTo>
                    <a:pt x="1396937" y="0"/>
                  </a:lnTo>
                  <a:lnTo>
                    <a:pt x="1396937"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name="TextBox 4" id="4"/>
            <p:cNvSpPr txBox="true"/>
            <p:nvPr/>
          </p:nvSpPr>
          <p:spPr>
            <a:xfrm>
              <a:off x="0" y="-47625"/>
              <a:ext cx="1396937" cy="143390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true" flipV="true" rot="0">
            <a:off x="-3680067" y="-1766799"/>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4509877" y="2097028"/>
            <a:ext cx="8536449" cy="1255478"/>
          </a:xfrm>
          <a:prstGeom prst="rect">
            <a:avLst/>
          </a:prstGeom>
        </p:spPr>
        <p:txBody>
          <a:bodyPr anchor="t" rtlCol="false" tIns="0" lIns="0" bIns="0" rIns="0">
            <a:spAutoFit/>
          </a:bodyPr>
          <a:lstStyle/>
          <a:p>
            <a:pPr algn="ctr">
              <a:lnSpc>
                <a:spcPts val="3297"/>
              </a:lnSpc>
            </a:pPr>
            <a:r>
              <a:rPr lang="en-US" sz="3297">
                <a:solidFill>
                  <a:srgbClr val="000000"/>
                </a:solidFill>
                <a:latin typeface="League Spartan"/>
                <a:ea typeface="League Spartan"/>
                <a:cs typeface="League Spartan"/>
                <a:sym typeface="League Spartan"/>
              </a:rPr>
              <a:t>DELTA TABL</a:t>
            </a:r>
            <a:r>
              <a:rPr lang="en-US" sz="3297">
                <a:solidFill>
                  <a:srgbClr val="000000"/>
                </a:solidFill>
                <a:latin typeface="League Spartan"/>
                <a:ea typeface="League Spartan"/>
                <a:cs typeface="League Spartan"/>
                <a:sym typeface="League Spartan"/>
              </a:rPr>
              <a:t>ES WITH ACID TRANSACTIONS</a:t>
            </a:r>
          </a:p>
          <a:p>
            <a:pPr algn="ctr">
              <a:lnSpc>
                <a:spcPts val="3297"/>
              </a:lnSpc>
            </a:pPr>
          </a:p>
        </p:txBody>
      </p:sp>
      <p:grpSp>
        <p:nvGrpSpPr>
          <p:cNvPr name="Group 10" id="10"/>
          <p:cNvGrpSpPr/>
          <p:nvPr/>
        </p:nvGrpSpPr>
        <p:grpSpPr>
          <a:xfrm rot="0">
            <a:off x="3834580" y="142039"/>
            <a:ext cx="10963568" cy="1773322"/>
            <a:chOff x="0" y="0"/>
            <a:chExt cx="5025139" cy="812800"/>
          </a:xfrm>
        </p:grpSpPr>
        <p:sp>
          <p:nvSpPr>
            <p:cNvPr name="Freeform 11" id="11"/>
            <p:cNvSpPr/>
            <p:nvPr/>
          </p:nvSpPr>
          <p:spPr>
            <a:xfrm flipH="false" flipV="false" rot="0">
              <a:off x="0" y="0"/>
              <a:ext cx="5025139" cy="812800"/>
            </a:xfrm>
            <a:custGeom>
              <a:avLst/>
              <a:gdLst/>
              <a:ahLst/>
              <a:cxnLst/>
              <a:rect r="r" b="b" t="t" l="l"/>
              <a:pathLst>
                <a:path h="812800" w="5025139">
                  <a:moveTo>
                    <a:pt x="5025139" y="0"/>
                  </a:moveTo>
                  <a:lnTo>
                    <a:pt x="0" y="0"/>
                  </a:lnTo>
                  <a:lnTo>
                    <a:pt x="0" y="624840"/>
                  </a:lnTo>
                  <a:lnTo>
                    <a:pt x="157480" y="624840"/>
                  </a:lnTo>
                  <a:lnTo>
                    <a:pt x="157480" y="812800"/>
                  </a:lnTo>
                  <a:lnTo>
                    <a:pt x="463550" y="624840"/>
                  </a:lnTo>
                  <a:lnTo>
                    <a:pt x="5025139" y="624840"/>
                  </a:lnTo>
                  <a:lnTo>
                    <a:pt x="5025139" y="0"/>
                  </a:lnTo>
                  <a:close/>
                </a:path>
              </a:pathLst>
            </a:custGeom>
            <a:solidFill>
              <a:srgbClr val="9BDAE9"/>
            </a:solidFill>
            <a:ln cap="sq">
              <a:noFill/>
              <a:prstDash val="solid"/>
              <a:miter/>
            </a:ln>
          </p:spPr>
        </p:sp>
        <p:sp>
          <p:nvSpPr>
            <p:cNvPr name="TextBox 12" id="12"/>
            <p:cNvSpPr txBox="true"/>
            <p:nvPr/>
          </p:nvSpPr>
          <p:spPr>
            <a:xfrm>
              <a:off x="0" y="-47625"/>
              <a:ext cx="5025139" cy="6699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810011" y="142039"/>
            <a:ext cx="10947012" cy="1773322"/>
            <a:chOff x="0" y="0"/>
            <a:chExt cx="5017550" cy="812800"/>
          </a:xfrm>
        </p:grpSpPr>
        <p:sp>
          <p:nvSpPr>
            <p:cNvPr name="Freeform 14" id="14"/>
            <p:cNvSpPr/>
            <p:nvPr/>
          </p:nvSpPr>
          <p:spPr>
            <a:xfrm flipH="false" flipV="false" rot="0">
              <a:off x="0" y="0"/>
              <a:ext cx="5017550" cy="812800"/>
            </a:xfrm>
            <a:custGeom>
              <a:avLst/>
              <a:gdLst/>
              <a:ahLst/>
              <a:cxnLst/>
              <a:rect r="r" b="b" t="t" l="l"/>
              <a:pathLst>
                <a:path h="812800" w="5017550">
                  <a:moveTo>
                    <a:pt x="5017550" y="0"/>
                  </a:moveTo>
                  <a:lnTo>
                    <a:pt x="0" y="0"/>
                  </a:lnTo>
                  <a:lnTo>
                    <a:pt x="0" y="624840"/>
                  </a:lnTo>
                  <a:lnTo>
                    <a:pt x="157480" y="624840"/>
                  </a:lnTo>
                  <a:lnTo>
                    <a:pt x="157480" y="812800"/>
                  </a:lnTo>
                  <a:lnTo>
                    <a:pt x="463550" y="624840"/>
                  </a:lnTo>
                  <a:lnTo>
                    <a:pt x="5017550" y="624840"/>
                  </a:lnTo>
                  <a:lnTo>
                    <a:pt x="5017550" y="0"/>
                  </a:lnTo>
                  <a:close/>
                </a:path>
              </a:pathLst>
            </a:custGeom>
            <a:solidFill>
              <a:srgbClr val="000000">
                <a:alpha val="0"/>
              </a:srgbClr>
            </a:solidFill>
            <a:ln w="66675" cap="sq">
              <a:solidFill>
                <a:srgbClr val="56C3D0"/>
              </a:solidFill>
              <a:prstDash val="solid"/>
              <a:miter/>
            </a:ln>
          </p:spPr>
        </p:sp>
        <p:sp>
          <p:nvSpPr>
            <p:cNvPr name="TextBox 15" id="15"/>
            <p:cNvSpPr txBox="true"/>
            <p:nvPr/>
          </p:nvSpPr>
          <p:spPr>
            <a:xfrm>
              <a:off x="0" y="-47625"/>
              <a:ext cx="5017550" cy="669925"/>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355885" y="7149945"/>
            <a:ext cx="13341909" cy="2454025"/>
          </a:xfrm>
          <a:custGeom>
            <a:avLst/>
            <a:gdLst/>
            <a:ahLst/>
            <a:cxnLst/>
            <a:rect r="r" b="b" t="t" l="l"/>
            <a:pathLst>
              <a:path h="2454025" w="13341909">
                <a:moveTo>
                  <a:pt x="0" y="0"/>
                </a:moveTo>
                <a:lnTo>
                  <a:pt x="13341909" y="0"/>
                </a:lnTo>
                <a:lnTo>
                  <a:pt x="13341909" y="2454025"/>
                </a:lnTo>
                <a:lnTo>
                  <a:pt x="0" y="2454025"/>
                </a:lnTo>
                <a:lnTo>
                  <a:pt x="0" y="0"/>
                </a:lnTo>
                <a:close/>
              </a:path>
            </a:pathLst>
          </a:custGeom>
          <a:blipFill>
            <a:blip r:embed="rId4"/>
            <a:stretch>
              <a:fillRect l="0" t="-2186" r="-89875" b="-2186"/>
            </a:stretch>
          </a:blipFill>
        </p:spPr>
      </p:sp>
      <p:sp>
        <p:nvSpPr>
          <p:cNvPr name="TextBox 17" id="17"/>
          <p:cNvSpPr txBox="true"/>
          <p:nvPr/>
        </p:nvSpPr>
        <p:spPr>
          <a:xfrm rot="0">
            <a:off x="4649393" y="3566944"/>
            <a:ext cx="9268247" cy="330188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ACID</a:t>
            </a:r>
            <a:r>
              <a:rPr lang="en-US" sz="3129">
                <a:solidFill>
                  <a:srgbClr val="000000"/>
                </a:solidFill>
                <a:latin typeface="DG Jory"/>
                <a:ea typeface="DG Jory"/>
                <a:cs typeface="DG Jory"/>
                <a:sym typeface="DG Jory"/>
              </a:rPr>
              <a:t> Transactions ensure reliable data operations in Delta Lake.</a:t>
            </a:r>
          </a:p>
          <a:p>
            <a:pPr algn="ctr">
              <a:lnSpc>
                <a:spcPts val="4381"/>
              </a:lnSpc>
            </a:pPr>
            <a:r>
              <a:rPr lang="en-US" sz="3129">
                <a:solidFill>
                  <a:srgbClr val="000000"/>
                </a:solidFill>
                <a:latin typeface="DG Jory"/>
                <a:ea typeface="DG Jory"/>
                <a:cs typeface="DG Jory"/>
                <a:sym typeface="DG Jory"/>
              </a:rPr>
              <a:t> They guarantee that data writes are </a:t>
            </a:r>
            <a:r>
              <a:rPr lang="en-US" sz="3129">
                <a:solidFill>
                  <a:srgbClr val="E843A1"/>
                </a:solidFill>
                <a:latin typeface="DG Jory"/>
                <a:ea typeface="DG Jory"/>
                <a:cs typeface="DG Jory"/>
                <a:sym typeface="DG Jory"/>
              </a:rPr>
              <a:t>atomic</a:t>
            </a:r>
            <a:r>
              <a:rPr lang="en-US" sz="3129">
                <a:solidFill>
                  <a:srgbClr val="000000"/>
                </a:solidFill>
                <a:latin typeface="DG Jory"/>
                <a:ea typeface="DG Jory"/>
                <a:cs typeface="DG Jory"/>
                <a:sym typeface="DG Jory"/>
              </a:rPr>
              <a:t>, </a:t>
            </a:r>
            <a:r>
              <a:rPr lang="en-US" sz="3129">
                <a:solidFill>
                  <a:srgbClr val="00BF63"/>
                </a:solidFill>
                <a:latin typeface="DG Jory"/>
                <a:ea typeface="DG Jory"/>
                <a:cs typeface="DG Jory"/>
                <a:sym typeface="DG Jory"/>
              </a:rPr>
              <a:t>consistent</a:t>
            </a:r>
            <a:r>
              <a:rPr lang="en-US" sz="3129">
                <a:solidFill>
                  <a:srgbClr val="000000"/>
                </a:solidFill>
                <a:latin typeface="DG Jory"/>
                <a:ea typeface="DG Jory"/>
                <a:cs typeface="DG Jory"/>
                <a:sym typeface="DG Jory"/>
              </a:rPr>
              <a:t>, </a:t>
            </a:r>
            <a:r>
              <a:rPr lang="en-US" sz="3129">
                <a:solidFill>
                  <a:srgbClr val="FF751F"/>
                </a:solidFill>
                <a:latin typeface="DG Jory"/>
                <a:ea typeface="DG Jory"/>
                <a:cs typeface="DG Jory"/>
                <a:sym typeface="DG Jory"/>
              </a:rPr>
              <a:t>isolated</a:t>
            </a:r>
            <a:r>
              <a:rPr lang="en-US" sz="3129">
                <a:solidFill>
                  <a:srgbClr val="000000"/>
                </a:solidFill>
                <a:latin typeface="DG Jory"/>
                <a:ea typeface="DG Jory"/>
                <a:cs typeface="DG Jory"/>
                <a:sym typeface="DG Jory"/>
              </a:rPr>
              <a:t>, and </a:t>
            </a:r>
            <a:r>
              <a:rPr lang="en-US" sz="3129">
                <a:gradFill>
                  <a:gsLst>
                    <a:gs pos="0">
                      <a:srgbClr val="FF5757">
                        <a:alpha val="100000"/>
                      </a:srgbClr>
                    </a:gs>
                    <a:gs pos="100000">
                      <a:srgbClr val="8C52FF">
                        <a:alpha val="100000"/>
                      </a:srgbClr>
                    </a:gs>
                  </a:gsLst>
                  <a:lin ang="0"/>
                </a:gradFill>
                <a:latin typeface="DG Jory"/>
                <a:ea typeface="DG Jory"/>
                <a:cs typeface="DG Jory"/>
                <a:sym typeface="DG Jory"/>
              </a:rPr>
              <a:t>durable</a:t>
            </a:r>
            <a:r>
              <a:rPr lang="en-US" sz="3129">
                <a:solidFill>
                  <a:srgbClr val="000000"/>
                </a:solidFill>
                <a:latin typeface="DG Jory"/>
                <a:ea typeface="DG Jory"/>
                <a:cs typeface="DG Jory"/>
                <a:sym typeface="DG Jory"/>
              </a:rPr>
              <a:t>,</a:t>
            </a:r>
          </a:p>
          <a:p>
            <a:pPr algn="ctr">
              <a:lnSpc>
                <a:spcPts val="4381"/>
              </a:lnSpc>
            </a:pPr>
            <a:r>
              <a:rPr lang="en-US" sz="3129">
                <a:solidFill>
                  <a:srgbClr val="000000"/>
                </a:solidFill>
                <a:latin typeface="DG Jory"/>
                <a:ea typeface="DG Jory"/>
                <a:cs typeface="DG Jory"/>
                <a:sym typeface="DG Jory"/>
              </a:rPr>
              <a:t> preventing partial writes and ensuring data accuracy even during concurrent operations.</a:t>
            </a:r>
          </a:p>
        </p:txBody>
      </p:sp>
      <p:sp>
        <p:nvSpPr>
          <p:cNvPr name="TextBox 18" id="18"/>
          <p:cNvSpPr txBox="true"/>
          <p:nvPr/>
        </p:nvSpPr>
        <p:spPr>
          <a:xfrm rot="0">
            <a:off x="3829156" y="550581"/>
            <a:ext cx="11070900"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DELTA LAKE IMPLEMENTATION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5017245" y="457448"/>
            <a:ext cx="7025449" cy="1773322"/>
            <a:chOff x="0" y="0"/>
            <a:chExt cx="3220106" cy="812800"/>
          </a:xfrm>
        </p:grpSpPr>
        <p:sp>
          <p:nvSpPr>
            <p:cNvPr name="Freeform 7" id="7"/>
            <p:cNvSpPr/>
            <p:nvPr/>
          </p:nvSpPr>
          <p:spPr>
            <a:xfrm flipH="false" flipV="false" rot="0">
              <a:off x="0" y="0"/>
              <a:ext cx="3220106" cy="812800"/>
            </a:xfrm>
            <a:custGeom>
              <a:avLst/>
              <a:gdLst/>
              <a:ahLst/>
              <a:cxnLst/>
              <a:rect r="r" b="b" t="t" l="l"/>
              <a:pathLst>
                <a:path h="812800" w="3220106">
                  <a:moveTo>
                    <a:pt x="3220106" y="0"/>
                  </a:moveTo>
                  <a:lnTo>
                    <a:pt x="0" y="0"/>
                  </a:lnTo>
                  <a:lnTo>
                    <a:pt x="0" y="624840"/>
                  </a:lnTo>
                  <a:lnTo>
                    <a:pt x="157480" y="624840"/>
                  </a:lnTo>
                  <a:lnTo>
                    <a:pt x="157480" y="812800"/>
                  </a:lnTo>
                  <a:lnTo>
                    <a:pt x="463550" y="624840"/>
                  </a:lnTo>
                  <a:lnTo>
                    <a:pt x="3220106" y="624840"/>
                  </a:lnTo>
                  <a:lnTo>
                    <a:pt x="3220106" y="0"/>
                  </a:lnTo>
                  <a:close/>
                </a:path>
              </a:pathLst>
            </a:custGeom>
            <a:solidFill>
              <a:srgbClr val="9BDAE9"/>
            </a:solidFill>
            <a:ln cap="sq">
              <a:noFill/>
              <a:prstDash val="solid"/>
              <a:miter/>
            </a:ln>
          </p:spPr>
        </p:sp>
        <p:sp>
          <p:nvSpPr>
            <p:cNvPr name="TextBox 8" id="8"/>
            <p:cNvSpPr txBox="true"/>
            <p:nvPr/>
          </p:nvSpPr>
          <p:spPr>
            <a:xfrm>
              <a:off x="0" y="-47625"/>
              <a:ext cx="3220106"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178484" y="661383"/>
            <a:ext cx="7025449" cy="1773322"/>
            <a:chOff x="0" y="0"/>
            <a:chExt cx="3220106" cy="812800"/>
          </a:xfrm>
        </p:grpSpPr>
        <p:sp>
          <p:nvSpPr>
            <p:cNvPr name="Freeform 10" id="10"/>
            <p:cNvSpPr/>
            <p:nvPr/>
          </p:nvSpPr>
          <p:spPr>
            <a:xfrm flipH="false" flipV="false" rot="0">
              <a:off x="0" y="0"/>
              <a:ext cx="3220106" cy="812800"/>
            </a:xfrm>
            <a:custGeom>
              <a:avLst/>
              <a:gdLst/>
              <a:ahLst/>
              <a:cxnLst/>
              <a:rect r="r" b="b" t="t" l="l"/>
              <a:pathLst>
                <a:path h="812800" w="3220106">
                  <a:moveTo>
                    <a:pt x="3220106" y="0"/>
                  </a:moveTo>
                  <a:lnTo>
                    <a:pt x="0" y="0"/>
                  </a:lnTo>
                  <a:lnTo>
                    <a:pt x="0" y="624840"/>
                  </a:lnTo>
                  <a:lnTo>
                    <a:pt x="157480" y="624840"/>
                  </a:lnTo>
                  <a:lnTo>
                    <a:pt x="157480" y="812800"/>
                  </a:lnTo>
                  <a:lnTo>
                    <a:pt x="463550" y="624840"/>
                  </a:lnTo>
                  <a:lnTo>
                    <a:pt x="3220106" y="624840"/>
                  </a:lnTo>
                  <a:lnTo>
                    <a:pt x="3220106"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3220106" cy="6699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2009186" y="2434705"/>
            <a:ext cx="15237061" cy="7223495"/>
          </a:xfrm>
          <a:custGeom>
            <a:avLst/>
            <a:gdLst/>
            <a:ahLst/>
            <a:cxnLst/>
            <a:rect r="r" b="b" t="t" l="l"/>
            <a:pathLst>
              <a:path h="7223495" w="15237061">
                <a:moveTo>
                  <a:pt x="0" y="0"/>
                </a:moveTo>
                <a:lnTo>
                  <a:pt x="15237061" y="0"/>
                </a:lnTo>
                <a:lnTo>
                  <a:pt x="15237061" y="7223495"/>
                </a:lnTo>
                <a:lnTo>
                  <a:pt x="0" y="7223495"/>
                </a:lnTo>
                <a:lnTo>
                  <a:pt x="0" y="0"/>
                </a:lnTo>
                <a:close/>
              </a:path>
            </a:pathLst>
          </a:custGeom>
          <a:blipFill>
            <a:blip r:embed="rId4"/>
            <a:stretch>
              <a:fillRect l="-1269" t="-13205" r="-85" b="-17210"/>
            </a:stretch>
          </a:blipFill>
        </p:spPr>
      </p:sp>
      <p:sp>
        <p:nvSpPr>
          <p:cNvPr name="TextBox 13" id="13"/>
          <p:cNvSpPr txBox="true"/>
          <p:nvPr/>
        </p:nvSpPr>
        <p:spPr>
          <a:xfrm rot="0">
            <a:off x="5516096" y="654401"/>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DATA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940675" y="3701454"/>
            <a:ext cx="10406650" cy="385433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Selected region, product, category, and time as key features</a:t>
            </a:r>
          </a:p>
          <a:p>
            <a:pPr algn="l" marL="675648" indent="-337824" lvl="1">
              <a:lnSpc>
                <a:spcPts val="4381"/>
              </a:lnSpc>
              <a:buFont typeface="Arial"/>
              <a:buChar char="•"/>
            </a:pPr>
            <a:r>
              <a:rPr lang="en-US" sz="3129">
                <a:solidFill>
                  <a:srgbClr val="000000"/>
                </a:solidFill>
                <a:latin typeface="DG Jory"/>
                <a:ea typeface="DG Jory"/>
                <a:cs typeface="DG Jory"/>
                <a:sym typeface="DG Jory"/>
              </a:rPr>
              <a:t>Defined demand quantity as the target variable</a:t>
            </a:r>
          </a:p>
          <a:p>
            <a:pPr algn="l" marL="675648" indent="-337824" lvl="1">
              <a:lnSpc>
                <a:spcPts val="4381"/>
              </a:lnSpc>
              <a:buFont typeface="Arial"/>
              <a:buChar char="•"/>
            </a:pPr>
            <a:r>
              <a:rPr lang="en-US" sz="3129">
                <a:solidFill>
                  <a:srgbClr val="000000"/>
                </a:solidFill>
                <a:latin typeface="DG Jory"/>
                <a:ea typeface="DG Jory"/>
                <a:cs typeface="DG Jory"/>
                <a:sym typeface="DG Jory"/>
              </a:rPr>
              <a:t>Handled missing and noisy data through validation and cleaning</a:t>
            </a:r>
          </a:p>
          <a:p>
            <a:pPr algn="l" marL="675648" indent="-337824" lvl="1">
              <a:lnSpc>
                <a:spcPts val="4381"/>
              </a:lnSpc>
              <a:buFont typeface="Arial"/>
              <a:buChar char="•"/>
            </a:pPr>
            <a:r>
              <a:rPr lang="en-US" sz="3129">
                <a:solidFill>
                  <a:srgbClr val="000000"/>
                </a:solidFill>
                <a:latin typeface="DG Jory"/>
                <a:ea typeface="DG Jory"/>
                <a:cs typeface="DG Jory"/>
                <a:sym typeface="DG Jory"/>
              </a:rPr>
              <a:t>Aggregated and transformed raw data into ML-ready datasets</a:t>
            </a:r>
          </a:p>
          <a:p>
            <a:pPr algn="just">
              <a:lnSpc>
                <a:spcPts val="4381"/>
              </a:lnSpc>
            </a:pPr>
          </a:p>
        </p:txBody>
      </p:sp>
      <p:grpSp>
        <p:nvGrpSpPr>
          <p:cNvPr name="Group 7" id="7"/>
          <p:cNvGrpSpPr/>
          <p:nvPr/>
        </p:nvGrpSpPr>
        <p:grpSpPr>
          <a:xfrm rot="0">
            <a:off x="2940995" y="509965"/>
            <a:ext cx="12717780" cy="2176419"/>
            <a:chOff x="0" y="0"/>
            <a:chExt cx="5829179" cy="997559"/>
          </a:xfrm>
        </p:grpSpPr>
        <p:sp>
          <p:nvSpPr>
            <p:cNvPr name="Freeform 8" id="8"/>
            <p:cNvSpPr/>
            <p:nvPr/>
          </p:nvSpPr>
          <p:spPr>
            <a:xfrm flipH="false" flipV="false" rot="0">
              <a:off x="0" y="0"/>
              <a:ext cx="5829179" cy="997559"/>
            </a:xfrm>
            <a:custGeom>
              <a:avLst/>
              <a:gdLst/>
              <a:ahLst/>
              <a:cxnLst/>
              <a:rect r="r" b="b" t="t" l="l"/>
              <a:pathLst>
                <a:path h="997559" w="5829179">
                  <a:moveTo>
                    <a:pt x="5829179" y="0"/>
                  </a:moveTo>
                  <a:lnTo>
                    <a:pt x="0" y="0"/>
                  </a:lnTo>
                  <a:lnTo>
                    <a:pt x="0" y="809599"/>
                  </a:lnTo>
                  <a:lnTo>
                    <a:pt x="157480" y="809599"/>
                  </a:lnTo>
                  <a:lnTo>
                    <a:pt x="157480" y="997559"/>
                  </a:lnTo>
                  <a:lnTo>
                    <a:pt x="463550" y="809599"/>
                  </a:lnTo>
                  <a:lnTo>
                    <a:pt x="5829179" y="809599"/>
                  </a:lnTo>
                  <a:lnTo>
                    <a:pt x="5829179" y="0"/>
                  </a:lnTo>
                  <a:close/>
                </a:path>
              </a:pathLst>
            </a:custGeom>
            <a:solidFill>
              <a:srgbClr val="9BDAE9"/>
            </a:solidFill>
            <a:ln cap="sq">
              <a:noFill/>
              <a:prstDash val="solid"/>
              <a:miter/>
            </a:ln>
          </p:spPr>
        </p:sp>
        <p:sp>
          <p:nvSpPr>
            <p:cNvPr name="TextBox 9" id="9"/>
            <p:cNvSpPr txBox="true"/>
            <p:nvPr/>
          </p:nvSpPr>
          <p:spPr>
            <a:xfrm>
              <a:off x="0" y="-47625"/>
              <a:ext cx="5829179" cy="85468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2940995" y="509965"/>
            <a:ext cx="12717780" cy="2176419"/>
            <a:chOff x="0" y="0"/>
            <a:chExt cx="5829179" cy="997559"/>
          </a:xfrm>
        </p:grpSpPr>
        <p:sp>
          <p:nvSpPr>
            <p:cNvPr name="Freeform 11" id="11"/>
            <p:cNvSpPr/>
            <p:nvPr/>
          </p:nvSpPr>
          <p:spPr>
            <a:xfrm flipH="false" flipV="false" rot="0">
              <a:off x="0" y="0"/>
              <a:ext cx="5829179" cy="997559"/>
            </a:xfrm>
            <a:custGeom>
              <a:avLst/>
              <a:gdLst/>
              <a:ahLst/>
              <a:cxnLst/>
              <a:rect r="r" b="b" t="t" l="l"/>
              <a:pathLst>
                <a:path h="997559" w="5829179">
                  <a:moveTo>
                    <a:pt x="5829179" y="0"/>
                  </a:moveTo>
                  <a:lnTo>
                    <a:pt x="0" y="0"/>
                  </a:lnTo>
                  <a:lnTo>
                    <a:pt x="0" y="809599"/>
                  </a:lnTo>
                  <a:lnTo>
                    <a:pt x="157480" y="809599"/>
                  </a:lnTo>
                  <a:lnTo>
                    <a:pt x="157480" y="997559"/>
                  </a:lnTo>
                  <a:lnTo>
                    <a:pt x="463550" y="809599"/>
                  </a:lnTo>
                  <a:lnTo>
                    <a:pt x="5829179" y="809599"/>
                  </a:lnTo>
                  <a:lnTo>
                    <a:pt x="5829179"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5829179" cy="854684"/>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2857364" y="751920"/>
            <a:ext cx="12573271" cy="149722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DATA UNDERSTANDING &amp; FEATURE ENGINEERING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034042" y="6666331"/>
            <a:ext cx="7413931" cy="3505721"/>
          </a:xfrm>
          <a:prstGeom prst="rect">
            <a:avLst/>
          </a:prstGeom>
        </p:spPr>
        <p:txBody>
          <a:bodyPr anchor="t" rtlCol="false" tIns="0" lIns="0" bIns="0" rIns="0">
            <a:spAutoFit/>
          </a:bodyPr>
          <a:lstStyle/>
          <a:p>
            <a:pPr algn="l">
              <a:lnSpc>
                <a:spcPts val="3121"/>
              </a:lnSpc>
            </a:pPr>
            <a:r>
              <a:rPr lang="en-US" sz="2229">
                <a:solidFill>
                  <a:srgbClr val="E843A1"/>
                </a:solidFill>
                <a:latin typeface="DG Jory"/>
                <a:ea typeface="DG Jory"/>
                <a:cs typeface="DG Jory"/>
                <a:sym typeface="DG Jory"/>
              </a:rPr>
              <a:t>Feature Selection</a:t>
            </a:r>
          </a:p>
          <a:p>
            <a:pPr algn="l" marL="481346" indent="-240673" lvl="1">
              <a:lnSpc>
                <a:spcPts val="3121"/>
              </a:lnSpc>
              <a:buFont typeface="Arial"/>
              <a:buChar char="•"/>
            </a:pPr>
            <a:r>
              <a:rPr lang="en-US" sz="2229">
                <a:solidFill>
                  <a:srgbClr val="000000"/>
                </a:solidFill>
                <a:latin typeface="DG Jory"/>
                <a:ea typeface="DG Jory"/>
                <a:cs typeface="DG Jory"/>
                <a:sym typeface="DG Jory"/>
              </a:rPr>
              <a:t>Selected region, product category, and time as input features</a:t>
            </a:r>
          </a:p>
          <a:p>
            <a:pPr algn="l" marL="481346" indent="-240673" lvl="1">
              <a:lnSpc>
                <a:spcPts val="3121"/>
              </a:lnSpc>
              <a:buFont typeface="Arial"/>
              <a:buChar char="•"/>
            </a:pPr>
            <a:r>
              <a:rPr lang="en-US" sz="2229">
                <a:solidFill>
                  <a:srgbClr val="000000"/>
                </a:solidFill>
                <a:latin typeface="DG Jory"/>
                <a:ea typeface="DG Jory"/>
                <a:cs typeface="DG Jory"/>
                <a:sym typeface="DG Jory"/>
              </a:rPr>
              <a:t>Defined demand quantity as the target variable</a:t>
            </a:r>
          </a:p>
          <a:p>
            <a:pPr algn="l">
              <a:lnSpc>
                <a:spcPts val="3121"/>
              </a:lnSpc>
            </a:pPr>
            <a:r>
              <a:rPr lang="en-US" sz="2229">
                <a:solidFill>
                  <a:srgbClr val="00BF63"/>
                </a:solidFill>
                <a:latin typeface="DG Jory"/>
                <a:ea typeface="DG Jory"/>
                <a:cs typeface="DG Jory"/>
                <a:sym typeface="DG Jory"/>
              </a:rPr>
              <a:t>Training &amp; Testing Setup</a:t>
            </a:r>
          </a:p>
          <a:p>
            <a:pPr algn="l" marL="481346" indent="-240673" lvl="1">
              <a:lnSpc>
                <a:spcPts val="3121"/>
              </a:lnSpc>
              <a:buFont typeface="Arial"/>
              <a:buChar char="•"/>
            </a:pPr>
            <a:r>
              <a:rPr lang="en-US" sz="2229">
                <a:solidFill>
                  <a:srgbClr val="000000"/>
                </a:solidFill>
                <a:latin typeface="DG Jory"/>
                <a:ea typeface="DG Jory"/>
                <a:cs typeface="DG Jory"/>
                <a:sym typeface="DG Jory"/>
              </a:rPr>
              <a:t>Model trained on historical demand data</a:t>
            </a:r>
          </a:p>
          <a:p>
            <a:pPr algn="l" marL="481346" indent="-240673" lvl="1">
              <a:lnSpc>
                <a:spcPts val="3121"/>
              </a:lnSpc>
              <a:buFont typeface="Arial"/>
              <a:buChar char="•"/>
            </a:pPr>
            <a:r>
              <a:rPr lang="en-US" sz="2229">
                <a:solidFill>
                  <a:srgbClr val="000000"/>
                </a:solidFill>
                <a:latin typeface="DG Jory"/>
                <a:ea typeface="DG Jory"/>
                <a:cs typeface="DG Jory"/>
                <a:sym typeface="DG Jory"/>
              </a:rPr>
              <a:t>Tested on upcoming / future time periods to validate predictions</a:t>
            </a:r>
          </a:p>
          <a:p>
            <a:pPr algn="ctr">
              <a:lnSpc>
                <a:spcPts val="3121"/>
              </a:lnSpc>
            </a:pPr>
          </a:p>
        </p:txBody>
      </p:sp>
      <p:grpSp>
        <p:nvGrpSpPr>
          <p:cNvPr name="Group 7" id="7"/>
          <p:cNvGrpSpPr/>
          <p:nvPr/>
        </p:nvGrpSpPr>
        <p:grpSpPr>
          <a:xfrm rot="0">
            <a:off x="2469404" y="174543"/>
            <a:ext cx="13557430" cy="2063922"/>
            <a:chOff x="0" y="0"/>
            <a:chExt cx="6214032" cy="945996"/>
          </a:xfrm>
        </p:grpSpPr>
        <p:sp>
          <p:nvSpPr>
            <p:cNvPr name="Freeform 8" id="8"/>
            <p:cNvSpPr/>
            <p:nvPr/>
          </p:nvSpPr>
          <p:spPr>
            <a:xfrm flipH="false" flipV="false" rot="0">
              <a:off x="0" y="0"/>
              <a:ext cx="6214032" cy="945996"/>
            </a:xfrm>
            <a:custGeom>
              <a:avLst/>
              <a:gdLst/>
              <a:ahLst/>
              <a:cxnLst/>
              <a:rect r="r" b="b" t="t" l="l"/>
              <a:pathLst>
                <a:path h="945996" w="6214032">
                  <a:moveTo>
                    <a:pt x="6214032" y="0"/>
                  </a:moveTo>
                  <a:lnTo>
                    <a:pt x="0" y="0"/>
                  </a:lnTo>
                  <a:lnTo>
                    <a:pt x="0" y="758036"/>
                  </a:lnTo>
                  <a:lnTo>
                    <a:pt x="157480" y="758036"/>
                  </a:lnTo>
                  <a:lnTo>
                    <a:pt x="157480" y="945996"/>
                  </a:lnTo>
                  <a:lnTo>
                    <a:pt x="463550" y="758036"/>
                  </a:lnTo>
                  <a:lnTo>
                    <a:pt x="6214032" y="758036"/>
                  </a:lnTo>
                  <a:lnTo>
                    <a:pt x="6214032" y="0"/>
                  </a:lnTo>
                  <a:close/>
                </a:path>
              </a:pathLst>
            </a:custGeom>
            <a:solidFill>
              <a:srgbClr val="9BDAE9"/>
            </a:solidFill>
            <a:ln cap="sq">
              <a:noFill/>
              <a:prstDash val="solid"/>
              <a:miter/>
            </a:ln>
          </p:spPr>
        </p:sp>
        <p:sp>
          <p:nvSpPr>
            <p:cNvPr name="TextBox 9" id="9"/>
            <p:cNvSpPr txBox="true"/>
            <p:nvPr/>
          </p:nvSpPr>
          <p:spPr>
            <a:xfrm>
              <a:off x="0" y="-47625"/>
              <a:ext cx="6214032" cy="80312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2469404" y="142039"/>
            <a:ext cx="13557430" cy="2096426"/>
            <a:chOff x="0" y="0"/>
            <a:chExt cx="6214032" cy="960895"/>
          </a:xfrm>
        </p:grpSpPr>
        <p:sp>
          <p:nvSpPr>
            <p:cNvPr name="Freeform 11" id="11"/>
            <p:cNvSpPr/>
            <p:nvPr/>
          </p:nvSpPr>
          <p:spPr>
            <a:xfrm flipH="false" flipV="false" rot="0">
              <a:off x="0" y="0"/>
              <a:ext cx="6214032" cy="960895"/>
            </a:xfrm>
            <a:custGeom>
              <a:avLst/>
              <a:gdLst/>
              <a:ahLst/>
              <a:cxnLst/>
              <a:rect r="r" b="b" t="t" l="l"/>
              <a:pathLst>
                <a:path h="960895" w="6214032">
                  <a:moveTo>
                    <a:pt x="6214032" y="0"/>
                  </a:moveTo>
                  <a:lnTo>
                    <a:pt x="0" y="0"/>
                  </a:lnTo>
                  <a:lnTo>
                    <a:pt x="0" y="772935"/>
                  </a:lnTo>
                  <a:lnTo>
                    <a:pt x="157480" y="772935"/>
                  </a:lnTo>
                  <a:lnTo>
                    <a:pt x="157480" y="960895"/>
                  </a:lnTo>
                  <a:lnTo>
                    <a:pt x="463550" y="772935"/>
                  </a:lnTo>
                  <a:lnTo>
                    <a:pt x="6214032" y="772935"/>
                  </a:lnTo>
                  <a:lnTo>
                    <a:pt x="6214032"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6214032" cy="81802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809848" y="2595665"/>
            <a:ext cx="8518571" cy="3761092"/>
          </a:xfrm>
          <a:custGeom>
            <a:avLst/>
            <a:gdLst/>
            <a:ahLst/>
            <a:cxnLst/>
            <a:rect r="r" b="b" t="t" l="l"/>
            <a:pathLst>
              <a:path h="3761092" w="8518571">
                <a:moveTo>
                  <a:pt x="0" y="0"/>
                </a:moveTo>
                <a:lnTo>
                  <a:pt x="8518571" y="0"/>
                </a:lnTo>
                <a:lnTo>
                  <a:pt x="8518571" y="3761091"/>
                </a:lnTo>
                <a:lnTo>
                  <a:pt x="0" y="3761091"/>
                </a:lnTo>
                <a:lnTo>
                  <a:pt x="0" y="0"/>
                </a:lnTo>
                <a:close/>
              </a:path>
            </a:pathLst>
          </a:custGeom>
          <a:blipFill>
            <a:blip r:embed="rId4"/>
            <a:stretch>
              <a:fillRect l="-6814" t="-5144" r="-9523" b="-5573"/>
            </a:stretch>
          </a:blipFill>
        </p:spPr>
      </p:sp>
      <p:sp>
        <p:nvSpPr>
          <p:cNvPr name="Freeform 14" id="14"/>
          <p:cNvSpPr/>
          <p:nvPr/>
        </p:nvSpPr>
        <p:spPr>
          <a:xfrm flipH="false" flipV="false" rot="0">
            <a:off x="11174041" y="2595665"/>
            <a:ext cx="5851981" cy="7049608"/>
          </a:xfrm>
          <a:custGeom>
            <a:avLst/>
            <a:gdLst/>
            <a:ahLst/>
            <a:cxnLst/>
            <a:rect r="r" b="b" t="t" l="l"/>
            <a:pathLst>
              <a:path h="7049608" w="5851981">
                <a:moveTo>
                  <a:pt x="0" y="0"/>
                </a:moveTo>
                <a:lnTo>
                  <a:pt x="5851981" y="0"/>
                </a:lnTo>
                <a:lnTo>
                  <a:pt x="5851981" y="7049608"/>
                </a:lnTo>
                <a:lnTo>
                  <a:pt x="0" y="7049608"/>
                </a:lnTo>
                <a:lnTo>
                  <a:pt x="0" y="0"/>
                </a:lnTo>
                <a:close/>
              </a:path>
            </a:pathLst>
          </a:custGeom>
          <a:blipFill>
            <a:blip r:embed="rId5"/>
            <a:stretch>
              <a:fillRect l="-4993" t="0" r="-7467" b="0"/>
            </a:stretch>
          </a:blipFill>
        </p:spPr>
      </p:sp>
      <p:sp>
        <p:nvSpPr>
          <p:cNvPr name="TextBox 15" id="15"/>
          <p:cNvSpPr txBox="true"/>
          <p:nvPr/>
        </p:nvSpPr>
        <p:spPr>
          <a:xfrm rot="0">
            <a:off x="3134290" y="280086"/>
            <a:ext cx="11622732" cy="149722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ML DATA PREPARATION &amp; TRAIN–TEST SETUP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829156" y="2543238"/>
            <a:ext cx="10279125" cy="7448094"/>
          </a:xfrm>
          <a:prstGeom prst="rect">
            <a:avLst/>
          </a:prstGeom>
        </p:spPr>
        <p:txBody>
          <a:bodyPr anchor="t" rtlCol="false" tIns="0" lIns="0" bIns="0" rIns="0">
            <a:spAutoFit/>
          </a:bodyPr>
          <a:lstStyle/>
          <a:p>
            <a:pPr algn="l">
              <a:lnSpc>
                <a:spcPts val="3451"/>
              </a:lnSpc>
            </a:pPr>
            <a:r>
              <a:rPr lang="en-US" sz="2465">
                <a:solidFill>
                  <a:srgbClr val="000000"/>
                </a:solidFill>
                <a:latin typeface="DG Jory"/>
                <a:ea typeface="DG Jory"/>
                <a:cs typeface="DG Jory"/>
                <a:sym typeface="DG Jory"/>
              </a:rPr>
              <a:t>Model Used : </a:t>
            </a:r>
            <a:r>
              <a:rPr lang="en-US" sz="2465">
                <a:solidFill>
                  <a:srgbClr val="EC4F9A"/>
                </a:solidFill>
                <a:latin typeface="DG Jory"/>
                <a:ea typeface="DG Jory"/>
                <a:cs typeface="DG Jory"/>
                <a:sym typeface="DG Jory"/>
              </a:rPr>
              <a:t>Random Forest Regressor</a:t>
            </a:r>
          </a:p>
          <a:p>
            <a:pPr algn="l">
              <a:lnSpc>
                <a:spcPts val="3451"/>
              </a:lnSpc>
            </a:pPr>
            <a:r>
              <a:rPr lang="en-US" sz="2465">
                <a:solidFill>
                  <a:srgbClr val="F5A604"/>
                </a:solidFill>
                <a:latin typeface="DG Jory"/>
                <a:ea typeface="DG Jory"/>
                <a:cs typeface="DG Jory"/>
                <a:sym typeface="DG Jory"/>
              </a:rPr>
              <a:t>Why This Model</a:t>
            </a:r>
          </a:p>
          <a:p>
            <a:pPr algn="l" marL="532327" indent="-266163" lvl="1">
              <a:lnSpc>
                <a:spcPts val="3451"/>
              </a:lnSpc>
              <a:buFont typeface="Arial"/>
              <a:buChar char="•"/>
            </a:pPr>
            <a:r>
              <a:rPr lang="en-US" sz="2465">
                <a:solidFill>
                  <a:srgbClr val="000000"/>
                </a:solidFill>
                <a:latin typeface="DG Jory"/>
                <a:ea typeface="DG Jory"/>
                <a:cs typeface="DG Jory"/>
                <a:sym typeface="DG Jory"/>
              </a:rPr>
              <a:t>Suitable for supervised regression tasks</a:t>
            </a:r>
          </a:p>
          <a:p>
            <a:pPr algn="l" marL="532327" indent="-266163" lvl="1">
              <a:lnSpc>
                <a:spcPts val="3451"/>
              </a:lnSpc>
              <a:buFont typeface="Arial"/>
              <a:buChar char="•"/>
            </a:pPr>
            <a:r>
              <a:rPr lang="en-US" sz="2465">
                <a:solidFill>
                  <a:srgbClr val="000000"/>
                </a:solidFill>
                <a:latin typeface="DG Jory"/>
                <a:ea typeface="DG Jory"/>
                <a:cs typeface="DG Jory"/>
                <a:sym typeface="DG Jory"/>
              </a:rPr>
              <a:t>Handles non-linear relationships in demand data</a:t>
            </a:r>
          </a:p>
          <a:p>
            <a:pPr algn="l" marL="532327" indent="-266163" lvl="1">
              <a:lnSpc>
                <a:spcPts val="3451"/>
              </a:lnSpc>
              <a:buFont typeface="Arial"/>
              <a:buChar char="•"/>
            </a:pPr>
            <a:r>
              <a:rPr lang="en-US" sz="2465">
                <a:solidFill>
                  <a:srgbClr val="000000"/>
                </a:solidFill>
                <a:latin typeface="DG Jory"/>
                <a:ea typeface="DG Jory"/>
                <a:cs typeface="DG Jory"/>
                <a:sym typeface="DG Jory"/>
              </a:rPr>
              <a:t>Works well with structured tabular datasets</a:t>
            </a:r>
          </a:p>
          <a:p>
            <a:pPr algn="l" marL="532327" indent="-266163" lvl="1">
              <a:lnSpc>
                <a:spcPts val="3451"/>
              </a:lnSpc>
              <a:buFont typeface="Arial"/>
              <a:buChar char="•"/>
            </a:pPr>
            <a:r>
              <a:rPr lang="en-US" sz="2465">
                <a:solidFill>
                  <a:srgbClr val="000000"/>
                </a:solidFill>
                <a:latin typeface="DG Jory"/>
                <a:ea typeface="DG Jory"/>
                <a:cs typeface="DG Jory"/>
                <a:sym typeface="DG Jory"/>
              </a:rPr>
              <a:t>Reduces overfitting compared to a single decision tree</a:t>
            </a:r>
          </a:p>
          <a:p>
            <a:pPr algn="l">
              <a:lnSpc>
                <a:spcPts val="3451"/>
              </a:lnSpc>
            </a:pPr>
          </a:p>
          <a:p>
            <a:pPr algn="l">
              <a:lnSpc>
                <a:spcPts val="3451"/>
              </a:lnSpc>
            </a:pPr>
            <a:r>
              <a:rPr lang="en-US" sz="2465">
                <a:solidFill>
                  <a:srgbClr val="23A069"/>
                </a:solidFill>
                <a:latin typeface="DG Jory"/>
                <a:ea typeface="DG Jory"/>
                <a:cs typeface="DG Jory"/>
                <a:sym typeface="DG Jory"/>
              </a:rPr>
              <a:t>Why a Baseline Model</a:t>
            </a:r>
          </a:p>
          <a:p>
            <a:pPr algn="l" marL="532327" indent="-266163" lvl="1">
              <a:lnSpc>
                <a:spcPts val="3451"/>
              </a:lnSpc>
              <a:buFont typeface="Arial"/>
              <a:buChar char="•"/>
            </a:pPr>
            <a:r>
              <a:rPr lang="en-US" sz="2465">
                <a:solidFill>
                  <a:srgbClr val="000000"/>
                </a:solidFill>
                <a:latin typeface="DG Jory"/>
                <a:ea typeface="DG Jory"/>
                <a:cs typeface="DG Jory"/>
                <a:sym typeface="DG Jory"/>
              </a:rPr>
              <a:t>Establishes a reliable performance baseline</a:t>
            </a:r>
          </a:p>
          <a:p>
            <a:pPr algn="l" marL="532327" indent="-266163" lvl="1">
              <a:lnSpc>
                <a:spcPts val="3451"/>
              </a:lnSpc>
              <a:buFont typeface="Arial"/>
              <a:buChar char="•"/>
            </a:pPr>
            <a:r>
              <a:rPr lang="en-US" sz="2465">
                <a:solidFill>
                  <a:srgbClr val="000000"/>
                </a:solidFill>
                <a:latin typeface="DG Jory"/>
                <a:ea typeface="DG Jory"/>
                <a:cs typeface="DG Jory"/>
                <a:sym typeface="DG Jory"/>
              </a:rPr>
              <a:t>Easy to train and evaluate in a limited time setup</a:t>
            </a:r>
          </a:p>
          <a:p>
            <a:pPr algn="l" marL="532327" indent="-266163" lvl="1">
              <a:lnSpc>
                <a:spcPts val="3451"/>
              </a:lnSpc>
              <a:buFont typeface="Arial"/>
              <a:buChar char="•"/>
            </a:pPr>
            <a:r>
              <a:rPr lang="en-US" sz="2465">
                <a:solidFill>
                  <a:srgbClr val="000000"/>
                </a:solidFill>
                <a:latin typeface="DG Jory"/>
                <a:ea typeface="DG Jory"/>
                <a:cs typeface="DG Jory"/>
                <a:sym typeface="DG Jory"/>
              </a:rPr>
              <a:t>Balances performance and interpretability</a:t>
            </a:r>
          </a:p>
          <a:p>
            <a:pPr algn="l">
              <a:lnSpc>
                <a:spcPts val="3451"/>
              </a:lnSpc>
            </a:pPr>
          </a:p>
          <a:p>
            <a:pPr algn="l">
              <a:lnSpc>
                <a:spcPts val="3451"/>
              </a:lnSpc>
            </a:pPr>
            <a:r>
              <a:rPr lang="en-US" sz="2465">
                <a:solidFill>
                  <a:srgbClr val="FF3131"/>
                </a:solidFill>
                <a:latin typeface="DG Jory"/>
                <a:ea typeface="DG Jory"/>
                <a:cs typeface="DG Jory"/>
                <a:sym typeface="DG Jory"/>
              </a:rPr>
              <a:t>Limitations</a:t>
            </a:r>
          </a:p>
          <a:p>
            <a:pPr algn="l" marL="532327" indent="-266163" lvl="1">
              <a:lnSpc>
                <a:spcPts val="3451"/>
              </a:lnSpc>
              <a:buFont typeface="Arial"/>
              <a:buChar char="•"/>
            </a:pPr>
            <a:r>
              <a:rPr lang="en-US" sz="2465">
                <a:solidFill>
                  <a:srgbClr val="000000"/>
                </a:solidFill>
                <a:latin typeface="DG Jory"/>
                <a:ea typeface="DG Jory"/>
                <a:cs typeface="DG Jory"/>
                <a:sym typeface="DG Jory"/>
              </a:rPr>
              <a:t>Does not explicitly model time-series seasonality</a:t>
            </a:r>
          </a:p>
          <a:p>
            <a:pPr algn="l" marL="532327" indent="-266163" lvl="1">
              <a:lnSpc>
                <a:spcPts val="3451"/>
              </a:lnSpc>
              <a:buFont typeface="Arial"/>
              <a:buChar char="•"/>
            </a:pPr>
            <a:r>
              <a:rPr lang="en-US" sz="2465">
                <a:solidFill>
                  <a:srgbClr val="000000"/>
                </a:solidFill>
                <a:latin typeface="DG Jory"/>
                <a:ea typeface="DG Jory"/>
                <a:cs typeface="DG Jory"/>
                <a:sym typeface="DG Jory"/>
              </a:rPr>
              <a:t>Requires feature engineering for temporal patterns</a:t>
            </a:r>
          </a:p>
          <a:p>
            <a:pPr algn="l" marL="532327" indent="-266163" lvl="1">
              <a:lnSpc>
                <a:spcPts val="3451"/>
              </a:lnSpc>
              <a:buFont typeface="Arial"/>
              <a:buChar char="•"/>
            </a:pPr>
            <a:r>
              <a:rPr lang="en-US" sz="2465">
                <a:solidFill>
                  <a:srgbClr val="000000"/>
                </a:solidFill>
                <a:latin typeface="DG Jory"/>
                <a:ea typeface="DG Jory"/>
                <a:cs typeface="DG Jory"/>
                <a:sym typeface="DG Jory"/>
              </a:rPr>
              <a:t>Model interpretability is limited compared to linear models</a:t>
            </a:r>
          </a:p>
          <a:p>
            <a:pPr algn="ctr">
              <a:lnSpc>
                <a:spcPts val="3451"/>
              </a:lnSpc>
            </a:pPr>
          </a:p>
        </p:txBody>
      </p:sp>
      <p:grpSp>
        <p:nvGrpSpPr>
          <p:cNvPr name="Group 7" id="7"/>
          <p:cNvGrpSpPr/>
          <p:nvPr/>
        </p:nvGrpSpPr>
        <p:grpSpPr>
          <a:xfrm rot="0">
            <a:off x="3252703" y="271030"/>
            <a:ext cx="11504320" cy="2209482"/>
            <a:chOff x="0" y="0"/>
            <a:chExt cx="5272991" cy="1012713"/>
          </a:xfrm>
        </p:grpSpPr>
        <p:sp>
          <p:nvSpPr>
            <p:cNvPr name="Freeform 8" id="8"/>
            <p:cNvSpPr/>
            <p:nvPr/>
          </p:nvSpPr>
          <p:spPr>
            <a:xfrm flipH="false" flipV="false" rot="0">
              <a:off x="0" y="0"/>
              <a:ext cx="5272991" cy="1012713"/>
            </a:xfrm>
            <a:custGeom>
              <a:avLst/>
              <a:gdLst/>
              <a:ahLst/>
              <a:cxnLst/>
              <a:rect r="r" b="b" t="t" l="l"/>
              <a:pathLst>
                <a:path h="1012713" w="5272991">
                  <a:moveTo>
                    <a:pt x="5272991" y="0"/>
                  </a:moveTo>
                  <a:lnTo>
                    <a:pt x="0" y="0"/>
                  </a:lnTo>
                  <a:lnTo>
                    <a:pt x="0" y="824753"/>
                  </a:lnTo>
                  <a:lnTo>
                    <a:pt x="157480" y="824753"/>
                  </a:lnTo>
                  <a:lnTo>
                    <a:pt x="157480" y="1012713"/>
                  </a:lnTo>
                  <a:lnTo>
                    <a:pt x="463550" y="824753"/>
                  </a:lnTo>
                  <a:lnTo>
                    <a:pt x="5272991" y="824753"/>
                  </a:lnTo>
                  <a:lnTo>
                    <a:pt x="5272991" y="0"/>
                  </a:lnTo>
                  <a:close/>
                </a:path>
              </a:pathLst>
            </a:custGeom>
            <a:solidFill>
              <a:srgbClr val="9BDAE9"/>
            </a:solidFill>
            <a:ln cap="sq">
              <a:noFill/>
              <a:prstDash val="solid"/>
              <a:miter/>
            </a:ln>
          </p:spPr>
        </p:sp>
        <p:sp>
          <p:nvSpPr>
            <p:cNvPr name="TextBox 9" id="9"/>
            <p:cNvSpPr txBox="true"/>
            <p:nvPr/>
          </p:nvSpPr>
          <p:spPr>
            <a:xfrm>
              <a:off x="0" y="-47625"/>
              <a:ext cx="5272991" cy="869838"/>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252703" y="271030"/>
            <a:ext cx="11504320" cy="2209482"/>
            <a:chOff x="0" y="0"/>
            <a:chExt cx="5272991" cy="1012713"/>
          </a:xfrm>
        </p:grpSpPr>
        <p:sp>
          <p:nvSpPr>
            <p:cNvPr name="Freeform 11" id="11"/>
            <p:cNvSpPr/>
            <p:nvPr/>
          </p:nvSpPr>
          <p:spPr>
            <a:xfrm flipH="false" flipV="false" rot="0">
              <a:off x="0" y="0"/>
              <a:ext cx="5272991" cy="1012713"/>
            </a:xfrm>
            <a:custGeom>
              <a:avLst/>
              <a:gdLst/>
              <a:ahLst/>
              <a:cxnLst/>
              <a:rect r="r" b="b" t="t" l="l"/>
              <a:pathLst>
                <a:path h="1012713" w="5272991">
                  <a:moveTo>
                    <a:pt x="5272991" y="0"/>
                  </a:moveTo>
                  <a:lnTo>
                    <a:pt x="0" y="0"/>
                  </a:lnTo>
                  <a:lnTo>
                    <a:pt x="0" y="824753"/>
                  </a:lnTo>
                  <a:lnTo>
                    <a:pt x="157480" y="824753"/>
                  </a:lnTo>
                  <a:lnTo>
                    <a:pt x="157480" y="1012713"/>
                  </a:lnTo>
                  <a:lnTo>
                    <a:pt x="463550" y="824753"/>
                  </a:lnTo>
                  <a:lnTo>
                    <a:pt x="5272991" y="824753"/>
                  </a:lnTo>
                  <a:lnTo>
                    <a:pt x="5272991"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5272991" cy="869838"/>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252703" y="573151"/>
            <a:ext cx="11525989" cy="149722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MODEL SELECTION &amp; TECHNICAL REASONING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829156" y="3240933"/>
            <a:ext cx="12056538" cy="4959237"/>
          </a:xfrm>
          <a:prstGeom prst="rect">
            <a:avLst/>
          </a:prstGeom>
        </p:spPr>
        <p:txBody>
          <a:bodyPr anchor="t" rtlCol="false" tIns="0" lIns="0" bIns="0" rIns="0">
            <a:spAutoFit/>
          </a:bodyPr>
          <a:lstStyle/>
          <a:p>
            <a:pPr algn="l">
              <a:lnSpc>
                <a:spcPts val="4381"/>
              </a:lnSpc>
            </a:pPr>
            <a:r>
              <a:rPr lang="en-US" sz="3129">
                <a:solidFill>
                  <a:srgbClr val="E843A1"/>
                </a:solidFill>
                <a:latin typeface="DG Jory"/>
                <a:ea typeface="DG Jory"/>
                <a:cs typeface="DG Jory"/>
                <a:sym typeface="DG Jory"/>
              </a:rPr>
              <a:t>Business Impact</a:t>
            </a:r>
          </a:p>
          <a:p>
            <a:pPr algn="l" marL="675648" indent="-337824" lvl="1">
              <a:lnSpc>
                <a:spcPts val="4381"/>
              </a:lnSpc>
              <a:buFont typeface="Arial"/>
              <a:buChar char="•"/>
            </a:pPr>
            <a:r>
              <a:rPr lang="en-US" sz="3129">
                <a:solidFill>
                  <a:srgbClr val="000000"/>
                </a:solidFill>
                <a:latin typeface="DG Jory"/>
                <a:ea typeface="DG Jory"/>
                <a:cs typeface="DG Jory"/>
                <a:sym typeface="DG Jory"/>
              </a:rPr>
              <a:t>Enables early identification of high-demand products</a:t>
            </a:r>
          </a:p>
          <a:p>
            <a:pPr algn="l" marL="675648" indent="-337824" lvl="1">
              <a:lnSpc>
                <a:spcPts val="4381"/>
              </a:lnSpc>
              <a:buFont typeface="Arial"/>
              <a:buChar char="•"/>
            </a:pPr>
            <a:r>
              <a:rPr lang="en-US" sz="3129">
                <a:solidFill>
                  <a:srgbClr val="000000"/>
                </a:solidFill>
                <a:latin typeface="DG Jory"/>
                <a:ea typeface="DG Jory"/>
                <a:cs typeface="DG Jory"/>
                <a:sym typeface="DG Jory"/>
              </a:rPr>
              <a:t>Helps reduce stockouts across regions and time periods</a:t>
            </a:r>
          </a:p>
          <a:p>
            <a:pPr algn="l" marL="675648" indent="-337824" lvl="1">
              <a:lnSpc>
                <a:spcPts val="4381"/>
              </a:lnSpc>
              <a:buFont typeface="Arial"/>
              <a:buChar char="•"/>
            </a:pPr>
            <a:r>
              <a:rPr lang="en-US" sz="3129">
                <a:solidFill>
                  <a:srgbClr val="000000"/>
                </a:solidFill>
                <a:latin typeface="DG Jory"/>
                <a:ea typeface="DG Jory"/>
                <a:cs typeface="DG Jory"/>
                <a:sym typeface="DG Jory"/>
              </a:rPr>
              <a:t>Supports better inventory planning using data-driven forecasts</a:t>
            </a:r>
          </a:p>
          <a:p>
            <a:pPr algn="l">
              <a:lnSpc>
                <a:spcPts val="4381"/>
              </a:lnSpc>
            </a:pPr>
            <a:r>
              <a:rPr lang="en-US" sz="3129">
                <a:solidFill>
                  <a:srgbClr val="00BF63"/>
                </a:solidFill>
                <a:latin typeface="DG Jory"/>
                <a:ea typeface="DG Jory"/>
                <a:cs typeface="DG Jory"/>
                <a:sym typeface="DG Jory"/>
              </a:rPr>
              <a:t>Practical Use</a:t>
            </a:r>
          </a:p>
          <a:p>
            <a:pPr algn="l" marL="675648" indent="-337824" lvl="1">
              <a:lnSpc>
                <a:spcPts val="4381"/>
              </a:lnSpc>
              <a:buFont typeface="Arial"/>
              <a:buChar char="•"/>
            </a:pPr>
            <a:r>
              <a:rPr lang="en-US" sz="3129">
                <a:solidFill>
                  <a:srgbClr val="000000"/>
                </a:solidFill>
                <a:latin typeface="DG Jory"/>
                <a:ea typeface="DG Jory"/>
                <a:cs typeface="DG Jory"/>
                <a:sym typeface="DG Jory"/>
              </a:rPr>
              <a:t>Forecast demand for upcoming months or regions</a:t>
            </a:r>
          </a:p>
          <a:p>
            <a:pPr algn="l" marL="675648" indent="-337824" lvl="1">
              <a:lnSpc>
                <a:spcPts val="4381"/>
              </a:lnSpc>
              <a:buFont typeface="Arial"/>
              <a:buChar char="•"/>
            </a:pPr>
            <a:r>
              <a:rPr lang="en-US" sz="3129">
                <a:solidFill>
                  <a:srgbClr val="000000"/>
                </a:solidFill>
                <a:latin typeface="DG Jory"/>
                <a:ea typeface="DG Jory"/>
                <a:cs typeface="DG Jory"/>
                <a:sym typeface="DG Jory"/>
              </a:rPr>
              <a:t>Align inventory levels with predicted demand</a:t>
            </a:r>
          </a:p>
          <a:p>
            <a:pPr algn="l" marL="675648" indent="-337824" lvl="1">
              <a:lnSpc>
                <a:spcPts val="4381"/>
              </a:lnSpc>
              <a:buFont typeface="Arial"/>
              <a:buChar char="•"/>
            </a:pPr>
            <a:r>
              <a:rPr lang="en-US" sz="3129">
                <a:solidFill>
                  <a:srgbClr val="000000"/>
                </a:solidFill>
                <a:latin typeface="DG Jory"/>
                <a:ea typeface="DG Jory"/>
                <a:cs typeface="DG Jory"/>
                <a:sym typeface="DG Jory"/>
              </a:rPr>
              <a:t>Improve customer satisfaction by ensuring product availability</a:t>
            </a:r>
          </a:p>
          <a:p>
            <a:pPr algn="ctr">
              <a:lnSpc>
                <a:spcPts val="4381"/>
              </a:lnSpc>
            </a:pPr>
          </a:p>
        </p:txBody>
      </p:sp>
      <p:grpSp>
        <p:nvGrpSpPr>
          <p:cNvPr name="Group 7" id="7"/>
          <p:cNvGrpSpPr/>
          <p:nvPr/>
        </p:nvGrpSpPr>
        <p:grpSpPr>
          <a:xfrm rot="0">
            <a:off x="3223258" y="142039"/>
            <a:ext cx="12435475" cy="1773322"/>
            <a:chOff x="0" y="0"/>
            <a:chExt cx="5699785" cy="812800"/>
          </a:xfrm>
        </p:grpSpPr>
        <p:sp>
          <p:nvSpPr>
            <p:cNvPr name="Freeform 8" id="8"/>
            <p:cNvSpPr/>
            <p:nvPr/>
          </p:nvSpPr>
          <p:spPr>
            <a:xfrm flipH="false" flipV="false" rot="0">
              <a:off x="0" y="0"/>
              <a:ext cx="5699785" cy="812800"/>
            </a:xfrm>
            <a:custGeom>
              <a:avLst/>
              <a:gdLst/>
              <a:ahLst/>
              <a:cxnLst/>
              <a:rect r="r" b="b" t="t" l="l"/>
              <a:pathLst>
                <a:path h="812800" w="5699785">
                  <a:moveTo>
                    <a:pt x="5699785" y="0"/>
                  </a:moveTo>
                  <a:lnTo>
                    <a:pt x="0" y="0"/>
                  </a:lnTo>
                  <a:lnTo>
                    <a:pt x="0" y="624840"/>
                  </a:lnTo>
                  <a:lnTo>
                    <a:pt x="157480" y="624840"/>
                  </a:lnTo>
                  <a:lnTo>
                    <a:pt x="157480" y="812800"/>
                  </a:lnTo>
                  <a:lnTo>
                    <a:pt x="463550" y="624840"/>
                  </a:lnTo>
                  <a:lnTo>
                    <a:pt x="5699785" y="624840"/>
                  </a:lnTo>
                  <a:lnTo>
                    <a:pt x="5699785" y="0"/>
                  </a:lnTo>
                  <a:close/>
                </a:path>
              </a:pathLst>
            </a:custGeom>
            <a:solidFill>
              <a:srgbClr val="9BDAE9"/>
            </a:solidFill>
            <a:ln cap="sq">
              <a:noFill/>
              <a:prstDash val="solid"/>
              <a:miter/>
            </a:ln>
          </p:spPr>
        </p:sp>
        <p:sp>
          <p:nvSpPr>
            <p:cNvPr name="TextBox 9" id="9"/>
            <p:cNvSpPr txBox="true"/>
            <p:nvPr/>
          </p:nvSpPr>
          <p:spPr>
            <a:xfrm>
              <a:off x="0" y="-47625"/>
              <a:ext cx="5699785"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367834" y="297057"/>
            <a:ext cx="12290898" cy="1773322"/>
            <a:chOff x="0" y="0"/>
            <a:chExt cx="5633519" cy="812800"/>
          </a:xfrm>
        </p:grpSpPr>
        <p:sp>
          <p:nvSpPr>
            <p:cNvPr name="Freeform 11" id="11"/>
            <p:cNvSpPr/>
            <p:nvPr/>
          </p:nvSpPr>
          <p:spPr>
            <a:xfrm flipH="false" flipV="false" rot="0">
              <a:off x="0" y="0"/>
              <a:ext cx="5633519" cy="812800"/>
            </a:xfrm>
            <a:custGeom>
              <a:avLst/>
              <a:gdLst/>
              <a:ahLst/>
              <a:cxnLst/>
              <a:rect r="r" b="b" t="t" l="l"/>
              <a:pathLst>
                <a:path h="812800" w="5633519">
                  <a:moveTo>
                    <a:pt x="5633519" y="0"/>
                  </a:moveTo>
                  <a:lnTo>
                    <a:pt x="0" y="0"/>
                  </a:lnTo>
                  <a:lnTo>
                    <a:pt x="0" y="624840"/>
                  </a:lnTo>
                  <a:lnTo>
                    <a:pt x="157480" y="624840"/>
                  </a:lnTo>
                  <a:lnTo>
                    <a:pt x="157480" y="812800"/>
                  </a:lnTo>
                  <a:lnTo>
                    <a:pt x="463550" y="624840"/>
                  </a:lnTo>
                  <a:lnTo>
                    <a:pt x="5633519" y="624840"/>
                  </a:lnTo>
                  <a:lnTo>
                    <a:pt x="5633519"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5633519"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443936" y="550581"/>
            <a:ext cx="12138696"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BUSINESS IMPACT &amp; PRACTICAL USE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838" y="4153209"/>
            <a:ext cx="8784324" cy="1261363"/>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DAHAEeEAOwI</dc:identifier>
  <dcterms:modified xsi:type="dcterms:W3CDTF">2011-08-01T06:04:30Z</dcterms:modified>
  <cp:revision>1</cp:revision>
  <dc:title>Predicting Demand to Prevent Stockouts</dc:title>
</cp:coreProperties>
</file>